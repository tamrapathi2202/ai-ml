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59" r:id="rId4"/>
    <p:sldId id="280" r:id="rId5"/>
    <p:sldId id="281" r:id="rId6"/>
    <p:sldId id="260" r:id="rId7"/>
    <p:sldId id="261" r:id="rId8"/>
    <p:sldId id="276" r:id="rId9"/>
    <p:sldId id="269" r:id="rId10"/>
    <p:sldId id="268" r:id="rId11"/>
    <p:sldId id="270" r:id="rId12"/>
    <p:sldId id="271" r:id="rId13"/>
    <p:sldId id="272" r:id="rId14"/>
    <p:sldId id="277" r:id="rId15"/>
    <p:sldId id="279" r:id="rId16"/>
    <p:sldId id="278" r:id="rId17"/>
    <p:sldId id="273" r:id="rId18"/>
    <p:sldId id="284" r:id="rId19"/>
    <p:sldId id="282" r:id="rId20"/>
    <p:sldId id="28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39C73F-2750-4B1A-8E3E-3435722DFD40}" v="3" dt="2025-08-20T10:20:14.6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rapathi kommuri" userId="3b3a5d3d06670fb1" providerId="LiveId" clId="{DB39C73F-2750-4B1A-8E3E-3435722DFD40}"/>
    <pc:docChg chg="modSld">
      <pc:chgData name="tamrapathi kommuri" userId="3b3a5d3d06670fb1" providerId="LiveId" clId="{DB39C73F-2750-4B1A-8E3E-3435722DFD40}" dt="2025-08-20T10:20:14.691" v="2" actId="1037"/>
      <pc:docMkLst>
        <pc:docMk/>
      </pc:docMkLst>
      <pc:sldChg chg="modSp">
        <pc:chgData name="tamrapathi kommuri" userId="3b3a5d3d06670fb1" providerId="LiveId" clId="{DB39C73F-2750-4B1A-8E3E-3435722DFD40}" dt="2025-08-20T10:20:14.691" v="2" actId="1037"/>
        <pc:sldMkLst>
          <pc:docMk/>
          <pc:sldMk cId="3523019020" sldId="278"/>
        </pc:sldMkLst>
        <pc:picChg chg="mod">
          <ac:chgData name="tamrapathi kommuri" userId="3b3a5d3d06670fb1" providerId="LiveId" clId="{DB39C73F-2750-4B1A-8E3E-3435722DFD40}" dt="2025-08-20T10:20:14.691" v="2" actId="1037"/>
          <ac:picMkLst>
            <pc:docMk/>
            <pc:sldMk cId="3523019020" sldId="278"/>
            <ac:picMk id="16386" creationId="{40C5181A-F168-EEB1-B589-41261BDC733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BD90DE-38EE-4A67-B4CA-AC75B491902E}" type="datetimeFigureOut">
              <a:rPr lang="en-IN" smtClean="0"/>
              <a:t>20-08-2025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1F746C04-1DF1-421B-B54F-D4F83EBFB4CA}"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0097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D90DE-38EE-4A67-B4CA-AC75B491902E}"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746C04-1DF1-421B-B54F-D4F83EBFB4CA}"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02981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BD90DE-38EE-4A67-B4CA-AC75B491902E}"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746C04-1DF1-421B-B54F-D4F83EBFB4CA}"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26002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BD90DE-38EE-4A67-B4CA-AC75B491902E}"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746C04-1DF1-421B-B54F-D4F83EBFB4CA}"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16183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BD90DE-38EE-4A67-B4CA-AC75B491902E}" type="datetimeFigureOut">
              <a:rPr lang="en-IN" smtClean="0"/>
              <a:t>20-08-2025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F746C04-1DF1-421B-B54F-D4F83EBFB4CA}"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04399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BD90DE-38EE-4A67-B4CA-AC75B491902E}" type="datetimeFigureOut">
              <a:rPr lang="en-IN" smtClean="0"/>
              <a:t>20-08-2025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F746C04-1DF1-421B-B54F-D4F83EBFB4CA}"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73185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BD90DE-38EE-4A67-B4CA-AC75B491902E}" type="datetimeFigureOut">
              <a:rPr lang="en-IN" smtClean="0"/>
              <a:t>20-08-2025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F746C04-1DF1-421B-B54F-D4F83EBFB4CA}" type="slidenum">
              <a:rPr lang="en-IN" smtClean="0"/>
              <a:t>‹#›</a:t>
            </a:fld>
            <a:endParaRPr lang="en-IN"/>
          </a:p>
        </p:txBody>
      </p:sp>
    </p:spTree>
    <p:extLst>
      <p:ext uri="{BB962C8B-B14F-4D97-AF65-F5344CB8AC3E}">
        <p14:creationId xmlns:p14="http://schemas.microsoft.com/office/powerpoint/2010/main" val="565072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BD90DE-38EE-4A67-B4CA-AC75B491902E}"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746C04-1DF1-421B-B54F-D4F83EBFB4CA}"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1781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ABBD90DE-38EE-4A67-B4CA-AC75B491902E}" type="datetimeFigureOut">
              <a:rPr lang="en-IN" smtClean="0"/>
              <a:t>20-08-2025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1F746C04-1DF1-421B-B54F-D4F83EBFB4CA}"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68944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D90DE-38EE-4A67-B4CA-AC75B491902E}"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746C04-1DF1-421B-B54F-D4F83EBFB4CA}"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64107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D90DE-38EE-4A67-B4CA-AC75B491902E}"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746C04-1DF1-421B-B54F-D4F83EBFB4CA}"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2085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BBD90DE-38EE-4A67-B4CA-AC75B491902E}" type="datetimeFigureOut">
              <a:rPr lang="en-IN" smtClean="0"/>
              <a:t>20-08-2025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F746C04-1DF1-421B-B54F-D4F83EBFB4CA}"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48435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A5B0B8-E913-9303-6E72-DBF59883B2E2}"/>
              </a:ext>
            </a:extLst>
          </p:cNvPr>
          <p:cNvSpPr>
            <a:spLocks noGrp="1"/>
          </p:cNvSpPr>
          <p:nvPr>
            <p:ph type="title"/>
          </p:nvPr>
        </p:nvSpPr>
        <p:spPr/>
        <p:txBody>
          <a:bodyPr/>
          <a:lstStyle/>
          <a:p>
            <a:r>
              <a:rPr lang="en-US" b="1" dirty="0"/>
              <a:t>Team Members:</a:t>
            </a:r>
            <a:endParaRPr lang="en-IN" b="1" dirty="0"/>
          </a:p>
        </p:txBody>
      </p:sp>
      <p:sp>
        <p:nvSpPr>
          <p:cNvPr id="6" name="Content Placeholder 5">
            <a:extLst>
              <a:ext uri="{FF2B5EF4-FFF2-40B4-BE49-F238E27FC236}">
                <a16:creationId xmlns:a16="http://schemas.microsoft.com/office/drawing/2014/main" id="{C5D3264F-2174-0CE1-69DB-BED5B1B470E7}"/>
              </a:ext>
            </a:extLst>
          </p:cNvPr>
          <p:cNvSpPr>
            <a:spLocks noGrp="1"/>
          </p:cNvSpPr>
          <p:nvPr>
            <p:ph idx="1"/>
          </p:nvPr>
        </p:nvSpPr>
        <p:spPr/>
        <p:txBody>
          <a:bodyPr/>
          <a:lstStyle/>
          <a:p>
            <a:r>
              <a:rPr lang="en-US" dirty="0"/>
              <a:t>KILARI VAMSI -</a:t>
            </a:r>
            <a:r>
              <a:rPr lang="en-US"/>
              <a:t>200303124284                                              </a:t>
            </a:r>
            <a:r>
              <a:rPr lang="en-US" dirty="0"/>
              <a:t>Guided by</a:t>
            </a:r>
          </a:p>
          <a:p>
            <a:r>
              <a:rPr lang="en-US" dirty="0"/>
              <a:t>CH.LALITH ADITHYA-200303125031                        PROOF:HIREN RAITHTHA</a:t>
            </a:r>
          </a:p>
          <a:p>
            <a:r>
              <a:rPr lang="en-IN" sz="1800" dirty="0">
                <a:solidFill>
                  <a:srgbClr val="000000"/>
                </a:solidFill>
                <a:effectLst/>
                <a:latin typeface="+mj-lt"/>
                <a:ea typeface="Times New Roman" panose="02020603050405020304" pitchFamily="18" charset="0"/>
              </a:rPr>
              <a:t>K.TAMRAPATHI </a:t>
            </a:r>
            <a:r>
              <a:rPr lang="en-US" dirty="0"/>
              <a:t>-200303126122                                    CSE DEPARTMENT ,PIET</a:t>
            </a:r>
          </a:p>
          <a:p>
            <a:r>
              <a:rPr lang="en-US" dirty="0"/>
              <a:t>S.GESHNA GOPESH -200303124464                               PARUL UNIVERSITY</a:t>
            </a:r>
            <a:endParaRPr lang="en-IN" dirty="0"/>
          </a:p>
        </p:txBody>
      </p:sp>
      <p:pic>
        <p:nvPicPr>
          <p:cNvPr id="1026" name="Picture 2" descr="Parul University (@ParulUniversity) / Twitter">
            <a:extLst>
              <a:ext uri="{FF2B5EF4-FFF2-40B4-BE49-F238E27FC236}">
                <a16:creationId xmlns:a16="http://schemas.microsoft.com/office/drawing/2014/main" id="{E316FF81-04DC-C287-E9ED-0E3CFE08C4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9639" y="71404"/>
            <a:ext cx="1582994" cy="1582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3191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C5B49-5377-AA36-301F-C1D74F5D4B39}"/>
              </a:ext>
            </a:extLst>
          </p:cNvPr>
          <p:cNvSpPr>
            <a:spLocks noGrp="1"/>
          </p:cNvSpPr>
          <p:nvPr>
            <p:ph type="title"/>
          </p:nvPr>
        </p:nvSpPr>
        <p:spPr/>
        <p:txBody>
          <a:bodyPr/>
          <a:lstStyle/>
          <a:p>
            <a:r>
              <a:rPr lang="en-US" dirty="0"/>
              <a:t>             IMAGE FORGERY DETECTION</a:t>
            </a:r>
            <a:endParaRPr lang="en-IN" b="1" dirty="0"/>
          </a:p>
        </p:txBody>
      </p:sp>
      <p:sp>
        <p:nvSpPr>
          <p:cNvPr id="3" name="Content Placeholder 2">
            <a:extLst>
              <a:ext uri="{FF2B5EF4-FFF2-40B4-BE49-F238E27FC236}">
                <a16:creationId xmlns:a16="http://schemas.microsoft.com/office/drawing/2014/main" id="{9B78D00B-51ED-095B-4C1D-2C00D82EBBCA}"/>
              </a:ext>
            </a:extLst>
          </p:cNvPr>
          <p:cNvSpPr>
            <a:spLocks noGrp="1"/>
          </p:cNvSpPr>
          <p:nvPr>
            <p:ph idx="1"/>
          </p:nvPr>
        </p:nvSpPr>
        <p:spPr>
          <a:xfrm>
            <a:off x="370936" y="2084744"/>
            <a:ext cx="11274724" cy="3850230"/>
          </a:xfrm>
        </p:spPr>
        <p:txBody>
          <a:bodyPr>
            <a:normAutofit fontScale="40000" lnSpcReduction="20000"/>
          </a:bodyPr>
          <a:lstStyle/>
          <a:p>
            <a:pPr marL="3175" marR="410845" indent="-6350">
              <a:lnSpc>
                <a:spcPct val="104000"/>
              </a:lnSpc>
              <a:spcAft>
                <a:spcPts val="265"/>
              </a:spcAft>
            </a:pPr>
            <a:r>
              <a:rPr lang="en-US" sz="3300" b="1" dirty="0"/>
              <a:t>AIM</a:t>
            </a:r>
            <a:r>
              <a:rPr lang="en-US" sz="3300" dirty="0"/>
              <a:t>:</a:t>
            </a:r>
            <a:r>
              <a:rPr lang="en-IN" sz="4200" dirty="0">
                <a:solidFill>
                  <a:srgbClr val="000000"/>
                </a:solidFill>
                <a:effectLst/>
                <a:latin typeface="Times New Roman" panose="02020603050405020304" pitchFamily="18" charset="0"/>
                <a:ea typeface="Times New Roman" panose="02020603050405020304" pitchFamily="18" charset="0"/>
              </a:rPr>
              <a:t>The aim of an image forgery detection project is to develop algorithms and techniques that can accurately detect manipulated or forged images. </a:t>
            </a:r>
          </a:p>
          <a:p>
            <a:pPr marL="3175" marR="410845" indent="-6350">
              <a:lnSpc>
                <a:spcPct val="104000"/>
              </a:lnSpc>
              <a:spcAft>
                <a:spcPts val="265"/>
              </a:spcAft>
            </a:pPr>
            <a:r>
              <a:rPr lang="en-IN" sz="4200" dirty="0">
                <a:solidFill>
                  <a:srgbClr val="000000"/>
                </a:solidFill>
                <a:effectLst/>
                <a:latin typeface="Times New Roman" panose="02020603050405020304" pitchFamily="18" charset="0"/>
                <a:ea typeface="Times New Roman" panose="02020603050405020304" pitchFamily="18" charset="0"/>
              </a:rPr>
              <a:t>The overall objective of such a project is to improve the reliability and trustworthiness of digital media by detecting and preventing the spread of false or misleading information.  </a:t>
            </a:r>
          </a:p>
          <a:p>
            <a:pPr marL="8890" indent="-6350">
              <a:lnSpc>
                <a:spcPct val="107000"/>
              </a:lnSpc>
              <a:spcAft>
                <a:spcPts val="545"/>
              </a:spcAft>
            </a:pPr>
            <a:r>
              <a:rPr lang="en-IN" sz="4200" dirty="0">
                <a:solidFill>
                  <a:srgbClr val="000000"/>
                </a:solidFill>
                <a:effectLst/>
                <a:latin typeface="Times New Roman" panose="02020603050405020304" pitchFamily="18" charset="0"/>
                <a:ea typeface="Times New Roman" panose="02020603050405020304" pitchFamily="18" charset="0"/>
              </a:rPr>
              <a:t> </a:t>
            </a:r>
            <a:r>
              <a:rPr lang="en-IN" sz="4200" dirty="0">
                <a:solidFill>
                  <a:srgbClr val="000000"/>
                </a:solidFill>
                <a:effectLst/>
                <a:latin typeface="Calibri" panose="020F0502020204030204" pitchFamily="34" charset="0"/>
                <a:ea typeface="Calibri" panose="020F0502020204030204" pitchFamily="34" charset="0"/>
              </a:rPr>
              <a:t> </a:t>
            </a:r>
            <a:r>
              <a:rPr lang="en-IN" sz="4200" dirty="0">
                <a:solidFill>
                  <a:srgbClr val="000000"/>
                </a:solidFill>
                <a:effectLst/>
                <a:latin typeface="Times New Roman" panose="02020603050405020304" pitchFamily="18" charset="0"/>
                <a:ea typeface="Times New Roman" panose="02020603050405020304" pitchFamily="18" charset="0"/>
              </a:rPr>
              <a:t> </a:t>
            </a:r>
            <a:r>
              <a:rPr lang="en-US" sz="4200" dirty="0">
                <a:solidFill>
                  <a:srgbClr val="000000"/>
                </a:solidFill>
                <a:effectLst/>
                <a:latin typeface="Times New Roman" panose="02020603050405020304" pitchFamily="18" charset="0"/>
                <a:ea typeface="Times New Roman" panose="02020603050405020304" pitchFamily="18" charset="0"/>
              </a:rPr>
              <a:t>modifications or alterations made to a digital image, in order to determine its authenticity and integrity. Image forgery can refer to a wide range of malicious activities, such as manipulating images for propaganda purposes, falsifying evidence in court cases, or altering images for entertainment or artistic purposes without permission. I</a:t>
            </a:r>
          </a:p>
          <a:p>
            <a:pPr marL="8890" indent="-6350">
              <a:lnSpc>
                <a:spcPct val="107000"/>
              </a:lnSpc>
              <a:spcAft>
                <a:spcPts val="545"/>
              </a:spcAft>
            </a:pPr>
            <a:r>
              <a:rPr lang="en-US" sz="4200" dirty="0">
                <a:solidFill>
                  <a:srgbClr val="000000"/>
                </a:solidFill>
                <a:effectLst/>
                <a:latin typeface="Times New Roman" panose="02020603050405020304" pitchFamily="18" charset="0"/>
                <a:ea typeface="Times New Roman" panose="02020603050405020304" pitchFamily="18" charset="0"/>
              </a:rPr>
              <a:t>mage forgery detection techniques can be used to detect a variety of manipulations, such as copy-move forgery (where parts of an image are duplicated and pasted elsewhere), splicing (where parts of different images are combined to create a new image), and tampering (where specific areas of an image are altered). The goal is to ensure the accuracy and credibility of digital images, which is becoming increasingly important in fields such as law enforcement, journalism, and digital forensics.</a:t>
            </a:r>
            <a:endParaRPr lang="en-IN" sz="4200" dirty="0">
              <a:solidFill>
                <a:srgbClr val="000000"/>
              </a:solidFill>
              <a:effectLst/>
              <a:latin typeface="Times New Roman" panose="02020603050405020304" pitchFamily="18" charset="0"/>
              <a:ea typeface="Times New Roman" panose="02020603050405020304" pitchFamily="18" charset="0"/>
            </a:endParaRPr>
          </a:p>
          <a:p>
            <a:endParaRPr lang="en-IN" dirty="0"/>
          </a:p>
        </p:txBody>
      </p:sp>
      <p:pic>
        <p:nvPicPr>
          <p:cNvPr id="2050" name="Picture 2" descr="Parul University (@ParulUniversity) / Twitter">
            <a:extLst>
              <a:ext uri="{FF2B5EF4-FFF2-40B4-BE49-F238E27FC236}">
                <a16:creationId xmlns:a16="http://schemas.microsoft.com/office/drawing/2014/main" id="{7D3E9C48-895E-B1CC-CF23-8FA2BE3895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79973" y="29519"/>
            <a:ext cx="1787013" cy="1787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524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CE376-2583-5E0E-1952-3E4638332A0E}"/>
              </a:ext>
            </a:extLst>
          </p:cNvPr>
          <p:cNvSpPr>
            <a:spLocks noGrp="1"/>
          </p:cNvSpPr>
          <p:nvPr>
            <p:ph type="title"/>
          </p:nvPr>
        </p:nvSpPr>
        <p:spPr>
          <a:xfrm>
            <a:off x="1294362" y="735106"/>
            <a:ext cx="9603275" cy="1013012"/>
          </a:xfrm>
        </p:spPr>
        <p:txBody>
          <a:bodyPr/>
          <a:lstStyle/>
          <a:p>
            <a:r>
              <a:rPr lang="en-US" b="1" dirty="0"/>
              <a:t>introduction:</a:t>
            </a:r>
            <a:endParaRPr lang="en-IN" b="1" dirty="0"/>
          </a:p>
        </p:txBody>
      </p:sp>
      <p:sp>
        <p:nvSpPr>
          <p:cNvPr id="3" name="Content Placeholder 2">
            <a:extLst>
              <a:ext uri="{FF2B5EF4-FFF2-40B4-BE49-F238E27FC236}">
                <a16:creationId xmlns:a16="http://schemas.microsoft.com/office/drawing/2014/main" id="{4232AE22-10A1-DCF9-3A9F-0335B5BCA954}"/>
              </a:ext>
            </a:extLst>
          </p:cNvPr>
          <p:cNvSpPr>
            <a:spLocks noGrp="1"/>
          </p:cNvSpPr>
          <p:nvPr>
            <p:ph idx="1"/>
          </p:nvPr>
        </p:nvSpPr>
        <p:spPr>
          <a:xfrm>
            <a:off x="1451579" y="2079812"/>
            <a:ext cx="9603275" cy="3386533"/>
          </a:xfrm>
        </p:spPr>
        <p:txBody>
          <a:bodyPr>
            <a:normAutofit/>
          </a:bodyPr>
          <a:lstStyle/>
          <a:p>
            <a:pPr marL="0" indent="0">
              <a:buNone/>
            </a:pPr>
            <a:r>
              <a:rPr lang="en-US" dirty="0"/>
              <a:t>In the digital age, the ease of manipulating images using advanced software tools has led to an increase in image forgeries. These forgeries can have severe consequences, ranging from spreading false information to damaging reputations. Therefore, there is a growing need for an effective forgery detection system that can accurately identify manipulated or forged images.</a:t>
            </a:r>
            <a:endParaRPr lang="en-IN" dirty="0"/>
          </a:p>
        </p:txBody>
      </p:sp>
      <p:pic>
        <p:nvPicPr>
          <p:cNvPr id="3074" name="Picture 2" descr="Parul University (@ParulUniversity) / Twitter">
            <a:extLst>
              <a:ext uri="{FF2B5EF4-FFF2-40B4-BE49-F238E27FC236}">
                <a16:creationId xmlns:a16="http://schemas.microsoft.com/office/drawing/2014/main" id="{67345E12-B82D-31F1-BFAB-4D21A290AC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0693" y="0"/>
            <a:ext cx="1816944" cy="1816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7539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CE376-2583-5E0E-1952-3E4638332A0E}"/>
              </a:ext>
            </a:extLst>
          </p:cNvPr>
          <p:cNvSpPr>
            <a:spLocks noGrp="1"/>
          </p:cNvSpPr>
          <p:nvPr>
            <p:ph type="title"/>
          </p:nvPr>
        </p:nvSpPr>
        <p:spPr>
          <a:xfrm>
            <a:off x="1294362" y="735106"/>
            <a:ext cx="9603275" cy="1013012"/>
          </a:xfrm>
        </p:spPr>
        <p:txBody>
          <a:bodyPr/>
          <a:lstStyle/>
          <a:p>
            <a:r>
              <a:rPr lang="en-US" b="1" dirty="0"/>
              <a:t>Problem statement:</a:t>
            </a:r>
            <a:endParaRPr lang="en-IN" b="1" dirty="0"/>
          </a:p>
        </p:txBody>
      </p:sp>
      <p:sp>
        <p:nvSpPr>
          <p:cNvPr id="3" name="Content Placeholder 2">
            <a:extLst>
              <a:ext uri="{FF2B5EF4-FFF2-40B4-BE49-F238E27FC236}">
                <a16:creationId xmlns:a16="http://schemas.microsoft.com/office/drawing/2014/main" id="{4232AE22-10A1-DCF9-3A9F-0335B5BCA954}"/>
              </a:ext>
            </a:extLst>
          </p:cNvPr>
          <p:cNvSpPr>
            <a:spLocks noGrp="1"/>
          </p:cNvSpPr>
          <p:nvPr>
            <p:ph idx="1"/>
          </p:nvPr>
        </p:nvSpPr>
        <p:spPr>
          <a:xfrm>
            <a:off x="1451579" y="2079812"/>
            <a:ext cx="9603275" cy="3386533"/>
          </a:xfrm>
        </p:spPr>
        <p:txBody>
          <a:bodyPr>
            <a:normAutofit fontScale="85000" lnSpcReduction="20000"/>
          </a:bodyPr>
          <a:lstStyle/>
          <a:p>
            <a:pPr marL="0" indent="0">
              <a:buNone/>
            </a:pPr>
            <a:r>
              <a:rPr lang="en-US" dirty="0"/>
              <a:t>Design and develop an image forgery detection system capable of identifying various types of image manipulations and forgeries. The system should possess the following key </a:t>
            </a:r>
            <a:r>
              <a:rPr lang="en-US" dirty="0" err="1"/>
              <a:t>features:Image</a:t>
            </a:r>
            <a:r>
              <a:rPr lang="en-US" dirty="0"/>
              <a:t> Manipulation Detection: The system should be able to detect common types of image manipulations, such as copy-move, splicing, retouching, and geometric transformations. It should analyze the image for inconsistencies and irregularities that indicate </a:t>
            </a:r>
            <a:r>
              <a:rPr lang="en-US" dirty="0" err="1"/>
              <a:t>tampering.Authenticity</a:t>
            </a:r>
            <a:r>
              <a:rPr lang="en-US" dirty="0"/>
              <a:t> Verification: The system should assess the authenticity of an image by comparing it against a reference database of original images or utilizing advanced algorithms to determine if the image has been modified from its original </a:t>
            </a:r>
            <a:r>
              <a:rPr lang="en-US" dirty="0" err="1"/>
              <a:t>state.Robustness</a:t>
            </a:r>
            <a:r>
              <a:rPr lang="en-US" dirty="0"/>
              <a:t> to Detection Techniques: The system should be designed to counteract known forgery detection techniques, such as anti-forensics methods or adversarial attacks. It should have the capability to detect such attempts and provide accurate </a:t>
            </a:r>
            <a:r>
              <a:rPr lang="en-US" dirty="0" err="1"/>
              <a:t>results.Real</a:t>
            </a:r>
            <a:r>
              <a:rPr lang="en-US" dirty="0"/>
              <a:t>-time Processing: The forgery detection system should be efficient enough to process images in real-time or near real-time, enabling its application in scenarios where quick analysis is required, such as social media platforms or forensic investigations.</a:t>
            </a:r>
            <a:endParaRPr lang="en-IN" dirty="0"/>
          </a:p>
        </p:txBody>
      </p:sp>
      <p:pic>
        <p:nvPicPr>
          <p:cNvPr id="4098" name="Picture 2" descr="Parul University (@ParulUniversity) / Twitter">
            <a:extLst>
              <a:ext uri="{FF2B5EF4-FFF2-40B4-BE49-F238E27FC236}">
                <a16:creationId xmlns:a16="http://schemas.microsoft.com/office/drawing/2014/main" id="{F1445D62-8B8E-34AE-1CF9-F9D6DB6A85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4393" y="0"/>
            <a:ext cx="1759974" cy="1759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182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CE376-2583-5E0E-1952-3E4638332A0E}"/>
              </a:ext>
            </a:extLst>
          </p:cNvPr>
          <p:cNvSpPr>
            <a:spLocks noGrp="1"/>
          </p:cNvSpPr>
          <p:nvPr>
            <p:ph type="title"/>
          </p:nvPr>
        </p:nvSpPr>
        <p:spPr>
          <a:xfrm>
            <a:off x="1294362" y="735106"/>
            <a:ext cx="9603275" cy="1013012"/>
          </a:xfrm>
        </p:spPr>
        <p:txBody>
          <a:bodyPr/>
          <a:lstStyle/>
          <a:p>
            <a:r>
              <a:rPr lang="en-US" b="1" dirty="0"/>
              <a:t>Flow chart:</a:t>
            </a:r>
            <a:endParaRPr lang="en-IN" b="1" dirty="0"/>
          </a:p>
        </p:txBody>
      </p:sp>
      <p:pic>
        <p:nvPicPr>
          <p:cNvPr id="5" name="Content Placeholder 4">
            <a:extLst>
              <a:ext uri="{FF2B5EF4-FFF2-40B4-BE49-F238E27FC236}">
                <a16:creationId xmlns:a16="http://schemas.microsoft.com/office/drawing/2014/main" id="{690363FE-7648-663E-6389-81BB21E0DA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05994" y="2050128"/>
            <a:ext cx="3143729" cy="3386138"/>
          </a:xfrm>
        </p:spPr>
      </p:pic>
      <p:pic>
        <p:nvPicPr>
          <p:cNvPr id="5122" name="Picture 2" descr="Parul University (@ParulUniversity) / Twitter">
            <a:extLst>
              <a:ext uri="{FF2B5EF4-FFF2-40B4-BE49-F238E27FC236}">
                <a16:creationId xmlns:a16="http://schemas.microsoft.com/office/drawing/2014/main" id="{CC2F511C-5930-CB5A-4A08-376D1070FD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7684" y="196645"/>
            <a:ext cx="1445342" cy="1445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2509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E6259-B597-A42C-F05B-7E5DF1F1BDA0}"/>
              </a:ext>
            </a:extLst>
          </p:cNvPr>
          <p:cNvSpPr>
            <a:spLocks noGrp="1"/>
          </p:cNvSpPr>
          <p:nvPr>
            <p:ph type="title"/>
          </p:nvPr>
        </p:nvSpPr>
        <p:spPr/>
        <p:txBody>
          <a:bodyPr/>
          <a:lstStyle/>
          <a:p>
            <a:r>
              <a:rPr lang="en-US" b="1" dirty="0"/>
              <a:t>ABSTRACT OF PROJECT:</a:t>
            </a:r>
            <a:endParaRPr lang="en-IN" b="1" dirty="0"/>
          </a:p>
        </p:txBody>
      </p:sp>
      <p:sp>
        <p:nvSpPr>
          <p:cNvPr id="3" name="Content Placeholder 2">
            <a:extLst>
              <a:ext uri="{FF2B5EF4-FFF2-40B4-BE49-F238E27FC236}">
                <a16:creationId xmlns:a16="http://schemas.microsoft.com/office/drawing/2014/main" id="{5B4A4A9B-6106-FF34-56F0-EA03F641E287}"/>
              </a:ext>
            </a:extLst>
          </p:cNvPr>
          <p:cNvSpPr>
            <a:spLocks noGrp="1"/>
          </p:cNvSpPr>
          <p:nvPr>
            <p:ph idx="1"/>
          </p:nvPr>
        </p:nvSpPr>
        <p:spPr/>
        <p:txBody>
          <a:bodyPr>
            <a:normAutofit fontScale="92500" lnSpcReduction="20000"/>
          </a:bodyPr>
          <a:lstStyle/>
          <a:p>
            <a:pPr marL="6350" marR="379730" indent="-6350">
              <a:lnSpc>
                <a:spcPct val="106000"/>
              </a:lnSpc>
              <a:spcAft>
                <a:spcPts val="110"/>
              </a:spcAft>
            </a:pPr>
            <a:r>
              <a:rPr lang="en-IN" sz="1800" dirty="0">
                <a:solidFill>
                  <a:srgbClr val="000000"/>
                </a:solidFill>
                <a:effectLst/>
                <a:latin typeface="Times New Roman" panose="02020603050405020304" pitchFamily="18" charset="0"/>
                <a:ea typeface="Times New Roman" panose="02020603050405020304" pitchFamily="18" charset="0"/>
              </a:rPr>
              <a:t>The issue of forged images is currently a global issue that spreads mainly via social networks. Image forgery has weakened Internet users confidence in digital images. In recent years, extensive research has been devoted to the development of new techniques to combat various image forgery attacks.</a:t>
            </a:r>
          </a:p>
          <a:p>
            <a:pPr marL="6350" marR="379730" indent="-6350">
              <a:lnSpc>
                <a:spcPct val="106000"/>
              </a:lnSpc>
              <a:spcAft>
                <a:spcPts val="110"/>
              </a:spcAft>
            </a:pPr>
            <a:r>
              <a:rPr lang="en-IN" sz="1800" dirty="0">
                <a:solidFill>
                  <a:srgbClr val="000000"/>
                </a:solidFill>
                <a:effectLst/>
                <a:latin typeface="Times New Roman" panose="02020603050405020304" pitchFamily="18" charset="0"/>
                <a:ea typeface="Times New Roman" panose="02020603050405020304" pitchFamily="18" charset="0"/>
              </a:rPr>
              <a:t> Detecting fake images prevents counterfeit photos from being used to deceive or cause harm to others. In this thesis, we propose methods using the error level analysis algorithm to detect manipulated images. We show that our combination of image pre-processing and machine learning techniques is an efficient approach to detecting image forgery attacks. </a:t>
            </a:r>
          </a:p>
          <a:p>
            <a:pPr marL="6350" marR="379730" indent="-6350">
              <a:lnSpc>
                <a:spcPct val="106000"/>
              </a:lnSpc>
              <a:spcAft>
                <a:spcPts val="110"/>
              </a:spcAft>
            </a:pPr>
            <a:r>
              <a:rPr lang="en-IN" sz="1800" dirty="0">
                <a:solidFill>
                  <a:srgbClr val="000000"/>
                </a:solidFill>
                <a:effectLst/>
                <a:latin typeface="Times New Roman" panose="02020603050405020304" pitchFamily="18" charset="0"/>
                <a:ea typeface="Times New Roman" panose="02020603050405020304" pitchFamily="18" charset="0"/>
              </a:rPr>
              <a:t>With the wide spread of digital document use in administrations, fabrication and use of forged documents have become a serious problem. This paper presents a study and classification of the most important works on image and document forgery detection.</a:t>
            </a:r>
          </a:p>
          <a:p>
            <a:pPr marL="6350" marR="379730" indent="-6350">
              <a:lnSpc>
                <a:spcPct val="106000"/>
              </a:lnSpc>
              <a:spcAft>
                <a:spcPts val="110"/>
              </a:spcAft>
            </a:pPr>
            <a:r>
              <a:rPr lang="en-IN" sz="1800" dirty="0">
                <a:solidFill>
                  <a:srgbClr val="000000"/>
                </a:solidFill>
                <a:effectLst/>
                <a:latin typeface="Times New Roman" panose="02020603050405020304" pitchFamily="18" charset="0"/>
                <a:ea typeface="Times New Roman" panose="02020603050405020304" pitchFamily="18" charset="0"/>
              </a:rPr>
              <a:t> The classification is based on documents type, forgery type, detection method, validation dataset, evaluation metrics and obtained results. Most of existing forgery detection works are dealing with images and few of them </a:t>
            </a:r>
            <a:r>
              <a:rPr lang="en-IN" sz="1800" dirty="0" err="1">
                <a:solidFill>
                  <a:srgbClr val="000000"/>
                </a:solidFill>
                <a:effectLst/>
                <a:latin typeface="Times New Roman" panose="02020603050405020304" pitchFamily="18" charset="0"/>
                <a:ea typeface="Times New Roman" panose="02020603050405020304" pitchFamily="18" charset="0"/>
              </a:rPr>
              <a:t>analyze</a:t>
            </a:r>
            <a:r>
              <a:rPr lang="en-IN" sz="1800" dirty="0">
                <a:solidFill>
                  <a:srgbClr val="000000"/>
                </a:solidFill>
                <a:effectLst/>
                <a:latin typeface="Times New Roman" panose="02020603050405020304" pitchFamily="18" charset="0"/>
                <a:ea typeface="Times New Roman" panose="02020603050405020304" pitchFamily="18" charset="0"/>
              </a:rPr>
              <a:t> administrative documents and go deeper to </a:t>
            </a:r>
            <a:r>
              <a:rPr lang="en-IN" sz="1800" dirty="0" err="1">
                <a:solidFill>
                  <a:srgbClr val="000000"/>
                </a:solidFill>
                <a:effectLst/>
                <a:latin typeface="Times New Roman" panose="02020603050405020304" pitchFamily="18" charset="0"/>
                <a:ea typeface="Times New Roman" panose="02020603050405020304" pitchFamily="18" charset="0"/>
              </a:rPr>
              <a:t>analyze</a:t>
            </a:r>
            <a:r>
              <a:rPr lang="en-IN" sz="1800" dirty="0">
                <a:solidFill>
                  <a:srgbClr val="000000"/>
                </a:solidFill>
                <a:effectLst/>
                <a:latin typeface="Times New Roman" panose="02020603050405020304" pitchFamily="18" charset="0"/>
                <a:ea typeface="Times New Roman" panose="02020603050405020304" pitchFamily="18" charset="0"/>
              </a:rPr>
              <a:t> their contents</a:t>
            </a:r>
            <a:r>
              <a:rPr lang="en-IN" sz="1800"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 </a:t>
            </a:r>
          </a:p>
          <a:p>
            <a:pPr marL="8890" indent="-6350">
              <a:lnSpc>
                <a:spcPct val="107000"/>
              </a:lnSpc>
              <a:spcAft>
                <a:spcPts val="160"/>
              </a:spcAft>
            </a:pPr>
            <a:endParaRPr lang="en-IN" sz="1800" dirty="0">
              <a:solidFill>
                <a:srgbClr val="000000"/>
              </a:solidFill>
              <a:effectLst/>
              <a:latin typeface="Times New Roman" panose="02020603050405020304" pitchFamily="18" charset="0"/>
              <a:ea typeface="Times New Roman" panose="02020603050405020304" pitchFamily="18" charset="0"/>
            </a:endParaRPr>
          </a:p>
        </p:txBody>
      </p:sp>
      <p:pic>
        <p:nvPicPr>
          <p:cNvPr id="6146" name="Picture 2" descr="Parul University (@ParulUniversity) / Twitter">
            <a:extLst>
              <a:ext uri="{FF2B5EF4-FFF2-40B4-BE49-F238E27FC236}">
                <a16:creationId xmlns:a16="http://schemas.microsoft.com/office/drawing/2014/main" id="{20F8E86F-1EF5-A50B-88DE-6EA5AD5EAC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61206" y="0"/>
            <a:ext cx="1789471" cy="1789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0100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4A77C-8C87-5A15-0DD7-19B6382D55C5}"/>
              </a:ext>
            </a:extLst>
          </p:cNvPr>
          <p:cNvSpPr>
            <a:spLocks noGrp="1"/>
          </p:cNvSpPr>
          <p:nvPr>
            <p:ph type="title"/>
          </p:nvPr>
        </p:nvSpPr>
        <p:spPr/>
        <p:txBody>
          <a:bodyPr/>
          <a:lstStyle/>
          <a:p>
            <a:r>
              <a:rPr lang="en-US" b="1" dirty="0"/>
              <a:t>REQUIREMENTS:</a:t>
            </a:r>
            <a:endParaRPr lang="en-IN" b="1" dirty="0"/>
          </a:p>
        </p:txBody>
      </p:sp>
      <p:sp>
        <p:nvSpPr>
          <p:cNvPr id="11" name="Content Placeholder 10">
            <a:extLst>
              <a:ext uri="{FF2B5EF4-FFF2-40B4-BE49-F238E27FC236}">
                <a16:creationId xmlns:a16="http://schemas.microsoft.com/office/drawing/2014/main" id="{304537C9-7D9C-D2AF-0602-2A59289CF948}"/>
              </a:ext>
            </a:extLst>
          </p:cNvPr>
          <p:cNvSpPr>
            <a:spLocks noGrp="1"/>
          </p:cNvSpPr>
          <p:nvPr>
            <p:ph sz="half" idx="1"/>
          </p:nvPr>
        </p:nvSpPr>
        <p:spPr>
          <a:xfrm>
            <a:off x="552091" y="2010878"/>
            <a:ext cx="5540392" cy="335507"/>
          </a:xfrm>
        </p:spPr>
        <p:txBody>
          <a:bodyPr>
            <a:normAutofit fontScale="25000" lnSpcReduction="20000"/>
          </a:bodyPr>
          <a:lstStyle/>
          <a:p>
            <a:pPr algn="just"/>
            <a:endParaRPr lang="en-US" b="0" i="0" dirty="0">
              <a:solidFill>
                <a:srgbClr val="0F0F0F"/>
              </a:solidFill>
              <a:effectLst/>
              <a:latin typeface="Roboto" panose="02000000000000000000" pitchFamily="2" charset="0"/>
            </a:endParaRPr>
          </a:p>
          <a:p>
            <a:pPr algn="just"/>
            <a:r>
              <a:rPr lang="en-US" sz="5600" b="1" i="0" dirty="0">
                <a:solidFill>
                  <a:srgbClr val="0F0F0F"/>
                </a:solidFill>
                <a:effectLst/>
                <a:latin typeface="Roboto" panose="02000000000000000000" pitchFamily="2" charset="0"/>
              </a:rPr>
              <a:t>There are several requirements that must be met for image forgery detection to be effective. These requirements </a:t>
            </a:r>
            <a:r>
              <a:rPr lang="en-US" sz="5600" b="1" i="0" dirty="0" err="1">
                <a:solidFill>
                  <a:srgbClr val="0F0F0F"/>
                </a:solidFill>
                <a:effectLst/>
                <a:latin typeface="Roboto" panose="02000000000000000000" pitchFamily="2" charset="0"/>
              </a:rPr>
              <a:t>include:Image</a:t>
            </a:r>
            <a:r>
              <a:rPr lang="en-US" sz="5600" b="1" i="0" dirty="0">
                <a:solidFill>
                  <a:srgbClr val="0F0F0F"/>
                </a:solidFill>
                <a:effectLst/>
                <a:latin typeface="Roboto" panose="02000000000000000000" pitchFamily="2" charset="0"/>
              </a:rPr>
              <a:t> quality: High quality images are necessary for accurate detection of image forgery. Images with low resolution, high noise, or poor lighting conditions can make it difficult to detect the forged regions.</a:t>
            </a:r>
          </a:p>
          <a:p>
            <a:pPr algn="just"/>
            <a:r>
              <a:rPr lang="en-US" sz="5600" b="1" i="0" dirty="0">
                <a:solidFill>
                  <a:srgbClr val="0F0F0F"/>
                </a:solidFill>
                <a:effectLst/>
                <a:latin typeface="Roboto" panose="02000000000000000000" pitchFamily="2" charset="0"/>
              </a:rPr>
              <a:t>Detection techniques: There are various techniques used for image forgery detection such as digital signature, error level analysis, and statistical analysis. The techniques should be reliable and efficient enough to detect forgeries </a:t>
            </a:r>
            <a:r>
              <a:rPr lang="en-US" sz="5600" b="1" i="0" dirty="0" err="1">
                <a:solidFill>
                  <a:srgbClr val="0F0F0F"/>
                </a:solidFill>
                <a:effectLst/>
                <a:latin typeface="Roboto" panose="02000000000000000000" pitchFamily="2" charset="0"/>
              </a:rPr>
              <a:t>accurately.Computational</a:t>
            </a:r>
            <a:r>
              <a:rPr lang="en-US" sz="5600" b="1" i="0" dirty="0">
                <a:solidFill>
                  <a:srgbClr val="0F0F0F"/>
                </a:solidFill>
                <a:effectLst/>
                <a:latin typeface="Roboto" panose="02000000000000000000" pitchFamily="2" charset="0"/>
              </a:rPr>
              <a:t> power:</a:t>
            </a:r>
          </a:p>
          <a:p>
            <a:pPr algn="just"/>
            <a:r>
              <a:rPr lang="en-US" sz="5600" b="1" i="0" dirty="0">
                <a:solidFill>
                  <a:srgbClr val="0F0F0F"/>
                </a:solidFill>
                <a:effectLst/>
                <a:latin typeface="Roboto" panose="02000000000000000000" pitchFamily="2" charset="0"/>
              </a:rPr>
              <a:t> Image forgery detection techniques require a significant amount of computational power, especially for processing large images or datasets. The availability of computational resources is therefore a crucial </a:t>
            </a:r>
            <a:r>
              <a:rPr lang="en-US" sz="5600" b="1" i="0" dirty="0" err="1">
                <a:solidFill>
                  <a:srgbClr val="0F0F0F"/>
                </a:solidFill>
                <a:effectLst/>
                <a:latin typeface="Roboto" panose="02000000000000000000" pitchFamily="2" charset="0"/>
              </a:rPr>
              <a:t>requirement.Dataset</a:t>
            </a:r>
            <a:r>
              <a:rPr lang="en-US" sz="5600" b="1" i="0" dirty="0">
                <a:solidFill>
                  <a:srgbClr val="0F0F0F"/>
                </a:solidFill>
                <a:effectLst/>
                <a:latin typeface="Roboto" panose="02000000000000000000" pitchFamily="2" charset="0"/>
              </a:rPr>
              <a:t>:</a:t>
            </a:r>
          </a:p>
          <a:p>
            <a:pPr algn="just"/>
            <a:endParaRPr lang="en-IN" b="1" dirty="0"/>
          </a:p>
        </p:txBody>
      </p:sp>
      <p:sp>
        <p:nvSpPr>
          <p:cNvPr id="12" name="AutoShape 2">
            <a:extLst>
              <a:ext uri="{FF2B5EF4-FFF2-40B4-BE49-F238E27FC236}">
                <a16:creationId xmlns:a16="http://schemas.microsoft.com/office/drawing/2014/main" id="{2212CCBF-15A1-3C7B-2FE6-F90D52394A36}"/>
              </a:ext>
            </a:extLst>
          </p:cNvPr>
          <p:cNvSpPr>
            <a:spLocks noChangeAspect="1" noChangeArrowheads="1"/>
          </p:cNvSpPr>
          <p:nvPr/>
        </p:nvSpPr>
        <p:spPr bwMode="auto">
          <a:xfrm>
            <a:off x="5943600" y="1407459"/>
            <a:ext cx="3989294" cy="41081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Content Placeholder 6">
            <a:extLst>
              <a:ext uri="{FF2B5EF4-FFF2-40B4-BE49-F238E27FC236}">
                <a16:creationId xmlns:a16="http://schemas.microsoft.com/office/drawing/2014/main" id="{D2709844-4A36-876D-643F-74E456B972C9}"/>
              </a:ext>
            </a:extLst>
          </p:cNvPr>
          <p:cNvPicPr>
            <a:picLocks noGrp="1"/>
          </p:cNvPicPr>
          <p:nvPr>
            <p:ph sz="half" idx="2"/>
          </p:nvPr>
        </p:nvPicPr>
        <p:blipFill>
          <a:blip r:embed="rId2"/>
          <a:stretch>
            <a:fillRect/>
          </a:stretch>
        </p:blipFill>
        <p:spPr>
          <a:xfrm>
            <a:off x="6413500" y="3312434"/>
            <a:ext cx="4645025" cy="852257"/>
          </a:xfrm>
          <a:prstGeom prst="rect">
            <a:avLst/>
          </a:prstGeom>
        </p:spPr>
      </p:pic>
      <p:pic>
        <p:nvPicPr>
          <p:cNvPr id="7170" name="Picture 2" descr="Parul University (@ParulUniversity) / Twitter">
            <a:extLst>
              <a:ext uri="{FF2B5EF4-FFF2-40B4-BE49-F238E27FC236}">
                <a16:creationId xmlns:a16="http://schemas.microsoft.com/office/drawing/2014/main" id="{AAE27FEC-40FE-91C6-179D-DA95038389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1467" y="66340"/>
            <a:ext cx="1681316" cy="1681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28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4067D-8387-049E-AEAA-D2F6F2A1DCD6}"/>
              </a:ext>
            </a:extLst>
          </p:cNvPr>
          <p:cNvSpPr>
            <a:spLocks noGrp="1"/>
          </p:cNvSpPr>
          <p:nvPr>
            <p:ph type="title"/>
          </p:nvPr>
        </p:nvSpPr>
        <p:spPr/>
        <p:txBody>
          <a:bodyPr/>
          <a:lstStyle/>
          <a:p>
            <a:r>
              <a:rPr lang="en-US" dirty="0"/>
              <a:t>IMAGE DETECTION</a:t>
            </a:r>
            <a:endParaRPr lang="en-IN" dirty="0"/>
          </a:p>
        </p:txBody>
      </p:sp>
      <p:sp>
        <p:nvSpPr>
          <p:cNvPr id="4" name="Text Placeholder 3">
            <a:extLst>
              <a:ext uri="{FF2B5EF4-FFF2-40B4-BE49-F238E27FC236}">
                <a16:creationId xmlns:a16="http://schemas.microsoft.com/office/drawing/2014/main" id="{CC480C8C-80BD-EC0C-6134-15380F0CFD9E}"/>
              </a:ext>
            </a:extLst>
          </p:cNvPr>
          <p:cNvSpPr>
            <a:spLocks noGrp="1"/>
          </p:cNvSpPr>
          <p:nvPr>
            <p:ph type="body" sz="half" idx="2"/>
          </p:nvPr>
        </p:nvSpPr>
        <p:spPr/>
        <p:txBody>
          <a:bodyPr/>
          <a:lstStyle/>
          <a:p>
            <a:pPr algn="ctr"/>
            <a:r>
              <a:rPr lang="en-US" b="1" dirty="0"/>
              <a:t>IMAGE HYBRID CAPTURE</a:t>
            </a:r>
            <a:endParaRPr lang="en-IN" b="1" dirty="0"/>
          </a:p>
        </p:txBody>
      </p:sp>
      <p:pic>
        <p:nvPicPr>
          <p:cNvPr id="5" name="Picture 4">
            <a:extLst>
              <a:ext uri="{FF2B5EF4-FFF2-40B4-BE49-F238E27FC236}">
                <a16:creationId xmlns:a16="http://schemas.microsoft.com/office/drawing/2014/main" id="{26DE78B7-3315-EF7D-D6C2-7DCEDDEA2C65}"/>
              </a:ext>
            </a:extLst>
          </p:cNvPr>
          <p:cNvPicPr/>
          <p:nvPr/>
        </p:nvPicPr>
        <p:blipFill>
          <a:blip r:embed="rId2"/>
          <a:stretch>
            <a:fillRect/>
          </a:stretch>
        </p:blipFill>
        <p:spPr>
          <a:xfrm>
            <a:off x="8391579" y="1666442"/>
            <a:ext cx="2256790" cy="2959100"/>
          </a:xfrm>
          <a:prstGeom prst="rect">
            <a:avLst/>
          </a:prstGeom>
        </p:spPr>
      </p:pic>
      <p:pic>
        <p:nvPicPr>
          <p:cNvPr id="8194" name="Picture 2" descr="Parul University (@ParulUniversity) / Twitter">
            <a:extLst>
              <a:ext uri="{FF2B5EF4-FFF2-40B4-BE49-F238E27FC236}">
                <a16:creationId xmlns:a16="http://schemas.microsoft.com/office/drawing/2014/main" id="{774B8E3D-A057-EF4C-9597-450A05397B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150" y="54282"/>
            <a:ext cx="1621992" cy="1621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2111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DC6E-DE2C-4AAD-2A6C-B2C8FFA2068C}"/>
              </a:ext>
            </a:extLst>
          </p:cNvPr>
          <p:cNvSpPr>
            <a:spLocks noGrp="1"/>
          </p:cNvSpPr>
          <p:nvPr>
            <p:ph type="title"/>
          </p:nvPr>
        </p:nvSpPr>
        <p:spPr>
          <a:xfrm>
            <a:off x="1621909" y="607295"/>
            <a:ext cx="9603275" cy="1049235"/>
          </a:xfrm>
        </p:spPr>
        <p:txBody>
          <a:bodyPr/>
          <a:lstStyle/>
          <a:p>
            <a:r>
              <a:rPr lang="en-IN" dirty="0"/>
              <a:t>SURVEY OF RESEARCH PAPERS</a:t>
            </a:r>
          </a:p>
        </p:txBody>
      </p:sp>
      <p:sp>
        <p:nvSpPr>
          <p:cNvPr id="3" name="Content Placeholder 2">
            <a:extLst>
              <a:ext uri="{FF2B5EF4-FFF2-40B4-BE49-F238E27FC236}">
                <a16:creationId xmlns:a16="http://schemas.microsoft.com/office/drawing/2014/main" id="{7DECDFDE-8B03-B620-96B7-0B38A1C45D5B}"/>
              </a:ext>
            </a:extLst>
          </p:cNvPr>
          <p:cNvSpPr>
            <a:spLocks noGrp="1"/>
          </p:cNvSpPr>
          <p:nvPr>
            <p:ph idx="1"/>
          </p:nvPr>
        </p:nvSpPr>
        <p:spPr/>
        <p:txBody>
          <a:bodyPr>
            <a:normAutofit fontScale="92500" lnSpcReduction="10000"/>
          </a:bodyPr>
          <a:lstStyle/>
          <a:p>
            <a:pPr marL="292735" marR="405765" indent="-6350" algn="just">
              <a:lnSpc>
                <a:spcPct val="108000"/>
              </a:lnSpc>
              <a:spcAft>
                <a:spcPts val="25"/>
              </a:spcAft>
            </a:pPr>
            <a:r>
              <a:rPr lang="en-IN" sz="1800" b="1" dirty="0">
                <a:solidFill>
                  <a:srgbClr val="000000"/>
                </a:solidFill>
                <a:effectLst/>
                <a:latin typeface="Calibri" panose="020F0502020204030204" pitchFamily="34" charset="0"/>
                <a:ea typeface="Calibri" panose="020F0502020204030204" pitchFamily="34" charset="0"/>
              </a:rPr>
              <a:t>: "Image Forgery Detection: A Review" by Renuka Rani and K. R. Venugopal, in International Journal of Computer Applications, vol. 173, no. 3, pp. 1-6, Jul. 2017. </a:t>
            </a:r>
            <a:r>
              <a:rPr lang="en-IN" sz="1800"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 </a:t>
            </a:r>
          </a:p>
          <a:p>
            <a:pPr marL="8890" indent="-6350">
              <a:lnSpc>
                <a:spcPct val="107000"/>
              </a:lnSpc>
              <a:spcAft>
                <a:spcPts val="40"/>
              </a:spcAft>
            </a:pPr>
            <a:r>
              <a:rPr lang="en-IN" sz="1800" b="1"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 </a:t>
            </a:r>
          </a:p>
          <a:p>
            <a:pPr marL="3175" marR="410845" indent="-6350">
              <a:lnSpc>
                <a:spcPct val="104000"/>
              </a:lnSpc>
              <a:spcAft>
                <a:spcPts val="40"/>
              </a:spcAft>
            </a:pPr>
            <a:r>
              <a:rPr lang="en-IN" sz="1800" dirty="0">
                <a:solidFill>
                  <a:srgbClr val="000000"/>
                </a:solidFill>
                <a:effectLst/>
                <a:latin typeface="Times New Roman" panose="02020603050405020304" pitchFamily="18" charset="0"/>
                <a:ea typeface="Times New Roman" panose="02020603050405020304" pitchFamily="18" charset="0"/>
              </a:rPr>
              <a:t>The authors provide an overview of image forgery, which refers to the process of manipulating digital images to deceive or mislead viewers. They classify image forgery into two types: passive and active. Passive forgery refers to image manipulation where the attacker does not have access to the original image, while active forgery refers to image manipulation where the attacker has access to the original image.  </a:t>
            </a:r>
          </a:p>
          <a:p>
            <a:pPr marL="3175" marR="410845" indent="-6350">
              <a:lnSpc>
                <a:spcPct val="104000"/>
              </a:lnSpc>
              <a:spcAft>
                <a:spcPts val="40"/>
              </a:spcAft>
            </a:pPr>
            <a:r>
              <a:rPr lang="en-IN" sz="1800" dirty="0">
                <a:solidFill>
                  <a:srgbClr val="000000"/>
                </a:solidFill>
                <a:effectLst/>
                <a:latin typeface="Times New Roman" panose="02020603050405020304" pitchFamily="18" charset="0"/>
                <a:ea typeface="Times New Roman" panose="02020603050405020304" pitchFamily="18" charset="0"/>
              </a:rPr>
              <a:t>The paper also provides an overview of various techniques used in image forgery detection. These techniques include digital watermarking, error level analysis, image noise analysis, and copy-move forgery detection. The authors highlight the strengths and weaknesses of each technique and provide a comparison of their performance.  </a:t>
            </a:r>
          </a:p>
          <a:p>
            <a:endParaRPr lang="en-IN" dirty="0"/>
          </a:p>
        </p:txBody>
      </p:sp>
      <p:pic>
        <p:nvPicPr>
          <p:cNvPr id="9218" name="Picture 2" descr="Parul University (@ParulUniversity) / Twitter">
            <a:extLst>
              <a:ext uri="{FF2B5EF4-FFF2-40B4-BE49-F238E27FC236}">
                <a16:creationId xmlns:a16="http://schemas.microsoft.com/office/drawing/2014/main" id="{018E99F7-37B3-8195-06CD-4B9555EC53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1941" y="83369"/>
            <a:ext cx="1573161" cy="1573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0164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798E0-A6D1-2085-A5AB-CE036E44807B}"/>
              </a:ext>
            </a:extLst>
          </p:cNvPr>
          <p:cNvSpPr>
            <a:spLocks noGrp="1"/>
          </p:cNvSpPr>
          <p:nvPr>
            <p:ph type="title"/>
          </p:nvPr>
        </p:nvSpPr>
        <p:spPr>
          <a:xfrm>
            <a:off x="788895" y="804519"/>
            <a:ext cx="10265960" cy="1049235"/>
          </a:xfrm>
        </p:spPr>
        <p:txBody>
          <a:bodyPr/>
          <a:lstStyle/>
          <a:p>
            <a:r>
              <a:rPr lang="en-IN" dirty="0"/>
              <a:t>      </a:t>
            </a:r>
            <a:r>
              <a:rPr lang="en-IN" dirty="0" err="1"/>
              <a:t>TEcHNOlogies</a:t>
            </a:r>
            <a:r>
              <a:rPr lang="en-IN" dirty="0"/>
              <a:t>  and tools </a:t>
            </a:r>
          </a:p>
        </p:txBody>
      </p:sp>
      <p:sp>
        <p:nvSpPr>
          <p:cNvPr id="3" name="Content Placeholder 2">
            <a:extLst>
              <a:ext uri="{FF2B5EF4-FFF2-40B4-BE49-F238E27FC236}">
                <a16:creationId xmlns:a16="http://schemas.microsoft.com/office/drawing/2014/main" id="{77B06520-DAE4-A040-A5D9-1549BC61CC84}"/>
              </a:ext>
            </a:extLst>
          </p:cNvPr>
          <p:cNvSpPr>
            <a:spLocks noGrp="1"/>
          </p:cNvSpPr>
          <p:nvPr>
            <p:ph idx="1"/>
          </p:nvPr>
        </p:nvSpPr>
        <p:spPr>
          <a:xfrm>
            <a:off x="788895" y="2277374"/>
            <a:ext cx="10265960" cy="3188971"/>
          </a:xfrm>
        </p:spPr>
        <p:txBody>
          <a:bodyPr>
            <a:normAutofit/>
          </a:bodyPr>
          <a:lstStyle/>
          <a:p>
            <a:pPr marL="0" indent="0" algn="l">
              <a:buNone/>
            </a:pPr>
            <a:endParaRPr lang="en-US" b="0" i="0" dirty="0">
              <a:solidFill>
                <a:srgbClr val="374151"/>
              </a:solidFill>
              <a:effectLst/>
              <a:latin typeface="Söhne"/>
            </a:endParaRPr>
          </a:p>
          <a:p>
            <a:pPr marL="0" indent="0" algn="l">
              <a:buNone/>
            </a:pPr>
            <a:endParaRPr lang="en-US" dirty="0">
              <a:solidFill>
                <a:srgbClr val="374151"/>
              </a:solidFill>
              <a:latin typeface="Söhne"/>
            </a:endParaRPr>
          </a:p>
          <a:p>
            <a:pPr marL="0" indent="0" algn="l">
              <a:buNone/>
            </a:pPr>
            <a:endParaRPr lang="en-US" b="0" i="0" dirty="0">
              <a:solidFill>
                <a:srgbClr val="374151"/>
              </a:solidFill>
              <a:effectLst/>
              <a:latin typeface="Söhne"/>
            </a:endParaRPr>
          </a:p>
          <a:p>
            <a:pPr marL="0" indent="0" algn="l">
              <a:buNone/>
            </a:pPr>
            <a:endParaRPr lang="en-US" b="0" i="0" dirty="0">
              <a:solidFill>
                <a:srgbClr val="374151"/>
              </a:solidFill>
              <a:effectLst/>
              <a:latin typeface="Söhne"/>
            </a:endParaRPr>
          </a:p>
          <a:p>
            <a:pPr marL="0" indent="0" algn="l">
              <a:buNone/>
            </a:pPr>
            <a:endParaRPr lang="en-US" b="0" i="0" dirty="0">
              <a:solidFill>
                <a:srgbClr val="374151"/>
              </a:solidFill>
              <a:effectLst/>
              <a:latin typeface="Söhne"/>
            </a:endParaRPr>
          </a:p>
        </p:txBody>
      </p:sp>
      <p:sp>
        <p:nvSpPr>
          <p:cNvPr id="5" name="TextBox 4">
            <a:extLst>
              <a:ext uri="{FF2B5EF4-FFF2-40B4-BE49-F238E27FC236}">
                <a16:creationId xmlns:a16="http://schemas.microsoft.com/office/drawing/2014/main" id="{723199BB-ED6B-8DC5-7C2B-D370BCBE36E1}"/>
              </a:ext>
            </a:extLst>
          </p:cNvPr>
          <p:cNvSpPr txBox="1"/>
          <p:nvPr/>
        </p:nvSpPr>
        <p:spPr>
          <a:xfrm>
            <a:off x="422694" y="1951672"/>
            <a:ext cx="11412748" cy="3693319"/>
          </a:xfrm>
          <a:prstGeom prst="rect">
            <a:avLst/>
          </a:prstGeom>
          <a:noFill/>
        </p:spPr>
        <p:txBody>
          <a:bodyPr wrap="square">
            <a:spAutoFit/>
          </a:bodyPr>
          <a:lstStyle/>
          <a:p>
            <a:r>
              <a:rPr lang="en-US" dirty="0"/>
              <a:t>Programming Languages: The choice of programming language depends on the specific task and preference of the developer. Some popular languages used for image forgery detection include Python, MATLAB, and C++. Python is widely used due to its rich set of libraries and frameworks such as OpenCV, NumPy, and Scikit-</a:t>
            </a:r>
            <a:r>
              <a:rPr lang="en-US" dirty="0" err="1"/>
              <a:t>learn.Image</a:t>
            </a:r>
            <a:r>
              <a:rPr lang="en-US" dirty="0"/>
              <a:t> Processing Libraries: Image processing libraries such as OpenCV, Pillow, and scikit-image are commonly used for various image processing tasks such as filtering, segmentation, and feature extraction.</a:t>
            </a:r>
          </a:p>
          <a:p>
            <a:r>
              <a:rPr lang="en-US" dirty="0"/>
              <a:t>Machine Learning Libraries: For machine learning tasks, popular libraries include Scikit-learn, TensorFlow, and </a:t>
            </a:r>
            <a:r>
              <a:rPr lang="en-US" dirty="0" err="1"/>
              <a:t>Keras</a:t>
            </a:r>
            <a:r>
              <a:rPr lang="en-US" dirty="0"/>
              <a:t>. These libraries provide pre-implemented algorithms and models that can be used for training and </a:t>
            </a:r>
            <a:r>
              <a:rPr lang="en-US" dirty="0" err="1"/>
              <a:t>testing.Feature</a:t>
            </a:r>
            <a:r>
              <a:rPr lang="en-US" dirty="0"/>
              <a:t> Extraction Techniques: Various feature extraction techniques are used for image forgery detection, including Discrete Wavelet Transform (DWT), Local Binary Patterns (LBP), and Scale-Invariant Feature Transform (SIFT).Classification Algorithms: Classification algorithms such as Support Vector Machines (SVM), Random Forest, and Convolutional Neural Networks (CNNs) are commonly used for image forgery </a:t>
            </a:r>
            <a:r>
              <a:rPr lang="en-US" dirty="0" err="1"/>
              <a:t>detection.Datasets</a:t>
            </a:r>
            <a:r>
              <a:rPr lang="en-US" dirty="0"/>
              <a:t>: Several datasets are publicly available for image forgery detection, such as CASIA dataset, COVERAGE dataset, and Columbia Image Splicing Detection Evaluation (CIDED) </a:t>
            </a:r>
            <a:r>
              <a:rPr lang="en-US" dirty="0" err="1"/>
              <a:t>dataset.Evaluation</a:t>
            </a:r>
            <a:r>
              <a:rPr lang="en-US" dirty="0"/>
              <a:t>.</a:t>
            </a:r>
            <a:endParaRPr lang="en-IN" dirty="0"/>
          </a:p>
        </p:txBody>
      </p:sp>
      <p:pic>
        <p:nvPicPr>
          <p:cNvPr id="10242" name="Picture 2" descr="Parul University (@ParulUniversity) / Twitter">
            <a:extLst>
              <a:ext uri="{FF2B5EF4-FFF2-40B4-BE49-F238E27FC236}">
                <a16:creationId xmlns:a16="http://schemas.microsoft.com/office/drawing/2014/main" id="{420C2DD8-C331-8DAB-E689-AFD105A460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2781" y="93780"/>
            <a:ext cx="1759974" cy="1759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7332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67EE8-01F5-6ED1-DEEF-E1BBF4F0D118}"/>
              </a:ext>
            </a:extLst>
          </p:cNvPr>
          <p:cNvSpPr>
            <a:spLocks noGrp="1"/>
          </p:cNvSpPr>
          <p:nvPr>
            <p:ph type="title"/>
          </p:nvPr>
        </p:nvSpPr>
        <p:spPr/>
        <p:txBody>
          <a:bodyPr/>
          <a:lstStyle/>
          <a:p>
            <a:r>
              <a:rPr lang="en-IN" dirty="0"/>
              <a:t>SURVEY OF RESEARCH PAPERS</a:t>
            </a:r>
          </a:p>
        </p:txBody>
      </p:sp>
      <p:sp>
        <p:nvSpPr>
          <p:cNvPr id="3" name="Content Placeholder 2">
            <a:extLst>
              <a:ext uri="{FF2B5EF4-FFF2-40B4-BE49-F238E27FC236}">
                <a16:creationId xmlns:a16="http://schemas.microsoft.com/office/drawing/2014/main" id="{1696C010-DB78-1A65-5B43-F802604B4B0B}"/>
              </a:ext>
            </a:extLst>
          </p:cNvPr>
          <p:cNvSpPr>
            <a:spLocks noGrp="1"/>
          </p:cNvSpPr>
          <p:nvPr>
            <p:ph idx="1"/>
          </p:nvPr>
        </p:nvSpPr>
        <p:spPr/>
        <p:txBody>
          <a:bodyPr>
            <a:normAutofit fontScale="77500" lnSpcReduction="20000"/>
          </a:bodyPr>
          <a:lstStyle/>
          <a:p>
            <a:pPr marL="3175" marR="338455" indent="-12700">
              <a:lnSpc>
                <a:spcPct val="105000"/>
              </a:lnSpc>
              <a:spcAft>
                <a:spcPts val="320"/>
              </a:spcAft>
            </a:pPr>
            <a:r>
              <a:rPr lang="en-IN" sz="1800" b="1" dirty="0">
                <a:solidFill>
                  <a:srgbClr val="000000"/>
                </a:solidFill>
                <a:effectLst/>
                <a:latin typeface="Calibri" panose="020F0502020204030204" pitchFamily="34" charset="0"/>
                <a:ea typeface="Calibri" panose="020F0502020204030204" pitchFamily="34" charset="0"/>
              </a:rPr>
              <a:t>"A Survey of Digital Image Forgery Detection Techniques" by Amina Ali and Arafat </a:t>
            </a:r>
            <a:r>
              <a:rPr lang="en-IN" sz="1800" b="1" dirty="0" err="1">
                <a:solidFill>
                  <a:srgbClr val="000000"/>
                </a:solidFill>
                <a:effectLst/>
                <a:latin typeface="Calibri" panose="020F0502020204030204" pitchFamily="34" charset="0"/>
                <a:ea typeface="Calibri" panose="020F0502020204030204" pitchFamily="34" charset="0"/>
              </a:rPr>
              <a:t>Awajan</a:t>
            </a:r>
            <a:r>
              <a:rPr lang="en-IN" sz="1800" b="1" dirty="0">
                <a:solidFill>
                  <a:srgbClr val="000000"/>
                </a:solidFill>
                <a:effectLst/>
                <a:latin typeface="Calibri" panose="020F0502020204030204" pitchFamily="34" charset="0"/>
                <a:ea typeface="Calibri" panose="020F0502020204030204" pitchFamily="34" charset="0"/>
              </a:rPr>
              <a:t>, in Journal of Computer Science and Technology, vol. 15, no. 2, pp. 56-67, Dec. 2015. </a:t>
            </a:r>
            <a:endParaRPr lang="en-IN" sz="1800" dirty="0">
              <a:solidFill>
                <a:srgbClr val="000000"/>
              </a:solidFill>
              <a:effectLst/>
              <a:latin typeface="Times New Roman" panose="02020603050405020304" pitchFamily="18" charset="0"/>
              <a:ea typeface="Times New Roman" panose="02020603050405020304" pitchFamily="18" charset="0"/>
            </a:endParaRPr>
          </a:p>
          <a:p>
            <a:pPr marL="3175" marR="410845" indent="-6350">
              <a:lnSpc>
                <a:spcPct val="104000"/>
              </a:lnSpc>
              <a:spcAft>
                <a:spcPts val="40"/>
              </a:spcAft>
            </a:pPr>
            <a:r>
              <a:rPr lang="en-IN" sz="1800" dirty="0">
                <a:solidFill>
                  <a:srgbClr val="000000"/>
                </a:solidFill>
                <a:effectLst/>
                <a:latin typeface="Times New Roman" panose="02020603050405020304" pitchFamily="18" charset="0"/>
                <a:ea typeface="Times New Roman" panose="02020603050405020304" pitchFamily="18" charset="0"/>
              </a:rPr>
              <a:t>The paper starts by defining digital image forgery and discussing the different types of forgeries such as copy-move, splicing, and retouching. It then proceeds to describe the various techniques used for digital image forgery detection, including passive, active, and hybrid techniques.  </a:t>
            </a:r>
          </a:p>
          <a:p>
            <a:pPr marL="8890" indent="-6350">
              <a:lnSpc>
                <a:spcPct val="107000"/>
              </a:lnSpc>
              <a:spcAft>
                <a:spcPts val="40"/>
              </a:spcAft>
            </a:pPr>
            <a:r>
              <a:rPr lang="en-IN" sz="1800" dirty="0">
                <a:solidFill>
                  <a:srgbClr val="000000"/>
                </a:solidFill>
                <a:effectLst/>
                <a:latin typeface="Times New Roman" panose="02020603050405020304" pitchFamily="18" charset="0"/>
                <a:ea typeface="Times New Roman" panose="02020603050405020304" pitchFamily="18" charset="0"/>
              </a:rPr>
              <a:t>  </a:t>
            </a:r>
          </a:p>
          <a:p>
            <a:pPr marL="3175" marR="410845" indent="-6350">
              <a:lnSpc>
                <a:spcPct val="104000"/>
              </a:lnSpc>
              <a:spcAft>
                <a:spcPts val="40"/>
              </a:spcAft>
            </a:pPr>
            <a:r>
              <a:rPr lang="en-IN" sz="1800" dirty="0">
                <a:solidFill>
                  <a:srgbClr val="000000"/>
                </a:solidFill>
                <a:effectLst/>
                <a:latin typeface="Times New Roman" panose="02020603050405020304" pitchFamily="18" charset="0"/>
                <a:ea typeface="Times New Roman" panose="02020603050405020304" pitchFamily="18" charset="0"/>
              </a:rPr>
              <a:t>The passive techniques include </a:t>
            </a:r>
            <a:r>
              <a:rPr lang="en-IN" sz="1800" dirty="0" err="1">
                <a:solidFill>
                  <a:srgbClr val="000000"/>
                </a:solidFill>
                <a:effectLst/>
                <a:latin typeface="Times New Roman" panose="02020603050405020304" pitchFamily="18" charset="0"/>
                <a:ea typeface="Times New Roman" panose="02020603050405020304" pitchFamily="18" charset="0"/>
              </a:rPr>
              <a:t>analyzing</a:t>
            </a:r>
            <a:r>
              <a:rPr lang="en-IN" sz="1800" dirty="0">
                <a:solidFill>
                  <a:srgbClr val="000000"/>
                </a:solidFill>
                <a:effectLst/>
                <a:latin typeface="Times New Roman" panose="02020603050405020304" pitchFamily="18" charset="0"/>
                <a:ea typeface="Times New Roman" panose="02020603050405020304" pitchFamily="18" charset="0"/>
              </a:rPr>
              <a:t> the image for inconsistencies in the image features such as </a:t>
            </a:r>
            <a:r>
              <a:rPr lang="en-IN" sz="1800" dirty="0" err="1">
                <a:solidFill>
                  <a:srgbClr val="000000"/>
                </a:solidFill>
                <a:effectLst/>
                <a:latin typeface="Times New Roman" panose="02020603050405020304" pitchFamily="18" charset="0"/>
                <a:ea typeface="Times New Roman" panose="02020603050405020304" pitchFamily="18" charset="0"/>
              </a:rPr>
              <a:t>color</a:t>
            </a:r>
            <a:r>
              <a:rPr lang="en-IN" sz="1800" dirty="0">
                <a:solidFill>
                  <a:srgbClr val="000000"/>
                </a:solidFill>
                <a:effectLst/>
                <a:latin typeface="Times New Roman" panose="02020603050405020304" pitchFamily="18" charset="0"/>
                <a:ea typeface="Times New Roman" panose="02020603050405020304" pitchFamily="18" charset="0"/>
              </a:rPr>
              <a:t>, texture, and lighting. The active techniques involve adding some sort of watermark or signature to the image that can be used to detect tampering. The hybrid techniques combine both passive and active techniques to improve the accuracy and robustness of the forgery detection process.  </a:t>
            </a:r>
          </a:p>
          <a:p>
            <a:pPr marL="8890" indent="-6350">
              <a:lnSpc>
                <a:spcPct val="107000"/>
              </a:lnSpc>
              <a:spcAft>
                <a:spcPts val="40"/>
              </a:spcAft>
            </a:pPr>
            <a:r>
              <a:rPr lang="en-IN" sz="1800" dirty="0">
                <a:solidFill>
                  <a:srgbClr val="000000"/>
                </a:solidFill>
                <a:effectLst/>
                <a:latin typeface="Times New Roman" panose="02020603050405020304" pitchFamily="18" charset="0"/>
                <a:ea typeface="Times New Roman" panose="02020603050405020304" pitchFamily="18" charset="0"/>
              </a:rPr>
              <a:t>  </a:t>
            </a:r>
          </a:p>
          <a:p>
            <a:pPr marL="3175" marR="410845" indent="-6350">
              <a:lnSpc>
                <a:spcPct val="104000"/>
              </a:lnSpc>
              <a:spcAft>
                <a:spcPts val="40"/>
              </a:spcAft>
            </a:pPr>
            <a:r>
              <a:rPr lang="en-IN" sz="1800" dirty="0">
                <a:solidFill>
                  <a:srgbClr val="000000"/>
                </a:solidFill>
                <a:effectLst/>
                <a:latin typeface="Times New Roman" panose="02020603050405020304" pitchFamily="18" charset="0"/>
                <a:ea typeface="Times New Roman" panose="02020603050405020304" pitchFamily="18" charset="0"/>
              </a:rPr>
              <a:t>The paper then discusses various digital image forgery detection algorithms such as </a:t>
            </a:r>
            <a:r>
              <a:rPr lang="en-IN" sz="1800" dirty="0" err="1">
                <a:solidFill>
                  <a:srgbClr val="000000"/>
                </a:solidFill>
                <a:effectLst/>
                <a:latin typeface="Times New Roman" panose="02020603050405020304" pitchFamily="18" charset="0"/>
                <a:ea typeface="Times New Roman" panose="02020603050405020304" pitchFamily="18" charset="0"/>
              </a:rPr>
              <a:t>blockbased</a:t>
            </a:r>
            <a:r>
              <a:rPr lang="en-IN" sz="1800" dirty="0">
                <a:solidFill>
                  <a:srgbClr val="000000"/>
                </a:solidFill>
                <a:effectLst/>
                <a:latin typeface="Times New Roman" panose="02020603050405020304" pitchFamily="18" charset="0"/>
                <a:ea typeface="Times New Roman" panose="02020603050405020304" pitchFamily="18" charset="0"/>
              </a:rPr>
              <a:t>, key-point-based, and deep learning-based methods. It provides a detailed explanation of each of these methods and their advantages and limitations.  </a:t>
            </a:r>
          </a:p>
          <a:p>
            <a:endParaRPr lang="en-IN" dirty="0"/>
          </a:p>
        </p:txBody>
      </p:sp>
      <p:pic>
        <p:nvPicPr>
          <p:cNvPr id="11266" name="Picture 2" descr="Parul University (@ParulUniversity) / Twitter">
            <a:extLst>
              <a:ext uri="{FF2B5EF4-FFF2-40B4-BE49-F238E27FC236}">
                <a16:creationId xmlns:a16="http://schemas.microsoft.com/office/drawing/2014/main" id="{E9023935-49DC-C95D-FE18-D4CB494D00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2716" y="117987"/>
            <a:ext cx="1524000"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631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DDA73-31B9-3301-24CF-0DCE7524DC07}"/>
              </a:ext>
            </a:extLst>
          </p:cNvPr>
          <p:cNvSpPr>
            <a:spLocks noGrp="1"/>
          </p:cNvSpPr>
          <p:nvPr>
            <p:ph type="title"/>
          </p:nvPr>
        </p:nvSpPr>
        <p:spPr/>
        <p:txBody>
          <a:bodyPr/>
          <a:lstStyle/>
          <a:p>
            <a:r>
              <a:rPr lang="en-IN" dirty="0"/>
              <a:t>Survey of research papers</a:t>
            </a:r>
          </a:p>
        </p:txBody>
      </p:sp>
      <p:sp>
        <p:nvSpPr>
          <p:cNvPr id="3" name="Content Placeholder 2">
            <a:extLst>
              <a:ext uri="{FF2B5EF4-FFF2-40B4-BE49-F238E27FC236}">
                <a16:creationId xmlns:a16="http://schemas.microsoft.com/office/drawing/2014/main" id="{3F727907-5CB9-78C8-FF5C-730EAF74DE1B}"/>
              </a:ext>
            </a:extLst>
          </p:cNvPr>
          <p:cNvSpPr>
            <a:spLocks noGrp="1"/>
          </p:cNvSpPr>
          <p:nvPr>
            <p:ph idx="1"/>
          </p:nvPr>
        </p:nvSpPr>
        <p:spPr/>
        <p:txBody>
          <a:bodyPr>
            <a:normAutofit fontScale="92500" lnSpcReduction="10000"/>
          </a:bodyPr>
          <a:lstStyle/>
          <a:p>
            <a:pPr marL="292735" marR="405765" indent="-6350" algn="just">
              <a:lnSpc>
                <a:spcPct val="108000"/>
              </a:lnSpc>
              <a:spcAft>
                <a:spcPts val="25"/>
              </a:spcAft>
            </a:pPr>
            <a:r>
              <a:rPr lang="en-IN" sz="1800" b="1" dirty="0">
                <a:solidFill>
                  <a:srgbClr val="000000"/>
                </a:solidFill>
                <a:effectLst/>
                <a:latin typeface="Calibri" panose="020F0502020204030204" pitchFamily="34" charset="0"/>
                <a:ea typeface="Calibri" panose="020F0502020204030204" pitchFamily="34" charset="0"/>
              </a:rPr>
              <a:t>"Survey on Image Forgery Detection Techniques" by Devendra Singh Thakur, Mukesh Saraswat, and Rakesh Kumar, in International Journal of Computer Applications, vol. 132, no. 6, pp. 1-7, Dec. 2015.</a:t>
            </a:r>
            <a:r>
              <a:rPr lang="en-IN" sz="1800"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 </a:t>
            </a:r>
          </a:p>
          <a:p>
            <a:pPr marL="3175" marR="410845" indent="-6350">
              <a:lnSpc>
                <a:spcPct val="104000"/>
              </a:lnSpc>
              <a:spcAft>
                <a:spcPts val="40"/>
              </a:spcAft>
            </a:pPr>
            <a:r>
              <a:rPr lang="en-IN" sz="1800" dirty="0">
                <a:solidFill>
                  <a:srgbClr val="000000"/>
                </a:solidFill>
                <a:effectLst/>
                <a:latin typeface="Times New Roman" panose="02020603050405020304" pitchFamily="18" charset="0"/>
                <a:ea typeface="Times New Roman" panose="02020603050405020304" pitchFamily="18" charset="0"/>
              </a:rPr>
              <a:t>The paper starts with an introduction to the concept of image forgery and the different types of forgeries, such as copy-move, splicing, and retouching. It then proceeds to describe the various techniques used for image forgery detection, including passive, active, and hybrid techniques.  </a:t>
            </a:r>
          </a:p>
          <a:p>
            <a:pPr marL="8890" indent="-6350">
              <a:lnSpc>
                <a:spcPct val="107000"/>
              </a:lnSpc>
              <a:spcAft>
                <a:spcPts val="40"/>
              </a:spcAft>
            </a:pPr>
            <a:r>
              <a:rPr lang="en-IN" sz="1800" dirty="0">
                <a:solidFill>
                  <a:srgbClr val="000000"/>
                </a:solidFill>
                <a:effectLst/>
                <a:latin typeface="Times New Roman" panose="02020603050405020304" pitchFamily="18" charset="0"/>
                <a:ea typeface="Times New Roman" panose="02020603050405020304" pitchFamily="18" charset="0"/>
              </a:rPr>
              <a:t>  </a:t>
            </a:r>
          </a:p>
          <a:p>
            <a:pPr marL="3175" marR="410845" indent="-6350">
              <a:lnSpc>
                <a:spcPct val="104000"/>
              </a:lnSpc>
              <a:spcAft>
                <a:spcPts val="40"/>
              </a:spcAft>
            </a:pPr>
            <a:r>
              <a:rPr lang="en-IN" sz="1800" dirty="0">
                <a:solidFill>
                  <a:srgbClr val="000000"/>
                </a:solidFill>
                <a:effectLst/>
                <a:latin typeface="Times New Roman" panose="02020603050405020304" pitchFamily="18" charset="0"/>
                <a:ea typeface="Times New Roman" panose="02020603050405020304" pitchFamily="18" charset="0"/>
              </a:rPr>
              <a:t>The passive techniques include </a:t>
            </a:r>
            <a:r>
              <a:rPr lang="en-IN" sz="1800" dirty="0" err="1">
                <a:solidFill>
                  <a:srgbClr val="000000"/>
                </a:solidFill>
                <a:effectLst/>
                <a:latin typeface="Times New Roman" panose="02020603050405020304" pitchFamily="18" charset="0"/>
                <a:ea typeface="Times New Roman" panose="02020603050405020304" pitchFamily="18" charset="0"/>
              </a:rPr>
              <a:t>analyzing</a:t>
            </a:r>
            <a:r>
              <a:rPr lang="en-IN" sz="1800" dirty="0">
                <a:solidFill>
                  <a:srgbClr val="000000"/>
                </a:solidFill>
                <a:effectLst/>
                <a:latin typeface="Times New Roman" panose="02020603050405020304" pitchFamily="18" charset="0"/>
                <a:ea typeface="Times New Roman" panose="02020603050405020304" pitchFamily="18" charset="0"/>
              </a:rPr>
              <a:t> the image for inconsistencies in the image features such as </a:t>
            </a:r>
            <a:r>
              <a:rPr lang="en-IN" sz="1800" dirty="0" err="1">
                <a:solidFill>
                  <a:srgbClr val="000000"/>
                </a:solidFill>
                <a:effectLst/>
                <a:latin typeface="Times New Roman" panose="02020603050405020304" pitchFamily="18" charset="0"/>
                <a:ea typeface="Times New Roman" panose="02020603050405020304" pitchFamily="18" charset="0"/>
              </a:rPr>
              <a:t>color</a:t>
            </a:r>
            <a:r>
              <a:rPr lang="en-IN" sz="1800" dirty="0">
                <a:solidFill>
                  <a:srgbClr val="000000"/>
                </a:solidFill>
                <a:effectLst/>
                <a:latin typeface="Times New Roman" panose="02020603050405020304" pitchFamily="18" charset="0"/>
                <a:ea typeface="Times New Roman" panose="02020603050405020304" pitchFamily="18" charset="0"/>
              </a:rPr>
              <a:t>, texture, and lighting. The active techniques involve adding some sort of watermark or signature to the image that can be used to detect tampering. The hybrid techniques combine both passive and active techniques to improve the accuracy and robustness of the forgery detection process.  </a:t>
            </a:r>
          </a:p>
          <a:p>
            <a:endParaRPr lang="en-IN" dirty="0"/>
          </a:p>
        </p:txBody>
      </p:sp>
      <p:pic>
        <p:nvPicPr>
          <p:cNvPr id="12290" name="Picture 2" descr="Parul University (@ParulUniversity) / Twitter">
            <a:extLst>
              <a:ext uri="{FF2B5EF4-FFF2-40B4-BE49-F238E27FC236}">
                <a16:creationId xmlns:a16="http://schemas.microsoft.com/office/drawing/2014/main" id="{CD8765A3-77C1-2D6E-3268-03CD7E2DA1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6573" y="285136"/>
            <a:ext cx="1425677" cy="1425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1781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2729C-3FEE-D95B-18FF-94CF81C48966}"/>
              </a:ext>
            </a:extLst>
          </p:cNvPr>
          <p:cNvSpPr>
            <a:spLocks noGrp="1"/>
          </p:cNvSpPr>
          <p:nvPr>
            <p:ph type="title"/>
          </p:nvPr>
        </p:nvSpPr>
        <p:spPr/>
        <p:txBody>
          <a:bodyPr/>
          <a:lstStyle/>
          <a:p>
            <a:r>
              <a:rPr lang="en-IN" dirty="0"/>
              <a:t>SURVEY OF RESEARCH PAPERS</a:t>
            </a:r>
          </a:p>
        </p:txBody>
      </p:sp>
      <p:sp>
        <p:nvSpPr>
          <p:cNvPr id="3" name="Content Placeholder 2">
            <a:extLst>
              <a:ext uri="{FF2B5EF4-FFF2-40B4-BE49-F238E27FC236}">
                <a16:creationId xmlns:a16="http://schemas.microsoft.com/office/drawing/2014/main" id="{C145DA5D-241A-34F2-8854-481342D46124}"/>
              </a:ext>
            </a:extLst>
          </p:cNvPr>
          <p:cNvSpPr>
            <a:spLocks noGrp="1"/>
          </p:cNvSpPr>
          <p:nvPr>
            <p:ph idx="1"/>
          </p:nvPr>
        </p:nvSpPr>
        <p:spPr/>
        <p:txBody>
          <a:bodyPr>
            <a:normAutofit fontScale="85000" lnSpcReduction="10000"/>
          </a:bodyPr>
          <a:lstStyle/>
          <a:p>
            <a:pPr marL="292735" marR="405765" indent="-6350" algn="just">
              <a:lnSpc>
                <a:spcPct val="108000"/>
              </a:lnSpc>
              <a:spcAft>
                <a:spcPts val="25"/>
              </a:spcAft>
            </a:pPr>
            <a:r>
              <a:rPr lang="en-IN" sz="1800" b="1" dirty="0">
                <a:solidFill>
                  <a:srgbClr val="000000"/>
                </a:solidFill>
                <a:effectLst/>
                <a:latin typeface="Calibri" panose="020F0502020204030204" pitchFamily="34" charset="0"/>
                <a:ea typeface="Calibri" panose="020F0502020204030204" pitchFamily="34" charset="0"/>
              </a:rPr>
              <a:t>15</a:t>
            </a:r>
            <a:r>
              <a:rPr lang="en-IN" sz="1800" dirty="0">
                <a:solidFill>
                  <a:srgbClr val="000000"/>
                </a:solidFill>
                <a:effectLst/>
                <a:latin typeface="Calibri" panose="020F0502020204030204" pitchFamily="34" charset="0"/>
                <a:ea typeface="Calibri" panose="020F0502020204030204" pitchFamily="34" charset="0"/>
              </a:rPr>
              <a:t> </a:t>
            </a:r>
            <a:r>
              <a:rPr lang="en-IN" sz="1800" b="1" dirty="0">
                <a:solidFill>
                  <a:srgbClr val="000000"/>
                </a:solidFill>
                <a:effectLst/>
                <a:latin typeface="Calibri" panose="020F0502020204030204" pitchFamily="34" charset="0"/>
                <a:ea typeface="Calibri" panose="020F0502020204030204" pitchFamily="34" charset="0"/>
              </a:rPr>
              <a:t>Digital image forgery detection techniques: A review" by A. K. </a:t>
            </a:r>
            <a:r>
              <a:rPr lang="en-IN" sz="1800" b="1" dirty="0" err="1">
                <a:solidFill>
                  <a:srgbClr val="000000"/>
                </a:solidFill>
                <a:effectLst/>
                <a:latin typeface="Calibri" panose="020F0502020204030204" pitchFamily="34" charset="0"/>
                <a:ea typeface="Calibri" panose="020F0502020204030204" pitchFamily="34" charset="0"/>
              </a:rPr>
              <a:t>Alazawi</a:t>
            </a:r>
            <a:r>
              <a:rPr lang="en-IN" sz="1800" b="1" dirty="0">
                <a:solidFill>
                  <a:srgbClr val="000000"/>
                </a:solidFill>
                <a:effectLst/>
                <a:latin typeface="Calibri" panose="020F0502020204030204" pitchFamily="34" charset="0"/>
                <a:ea typeface="Calibri" panose="020F0502020204030204" pitchFamily="34" charset="0"/>
              </a:rPr>
              <a:t> and J. B. </a:t>
            </a:r>
            <a:r>
              <a:rPr lang="en-IN" sz="1800" b="1" dirty="0" err="1">
                <a:solidFill>
                  <a:srgbClr val="000000"/>
                </a:solidFill>
                <a:effectLst/>
                <a:latin typeface="Calibri" panose="020F0502020204030204" pitchFamily="34" charset="0"/>
                <a:ea typeface="Calibri" panose="020F0502020204030204" pitchFamily="34" charset="0"/>
              </a:rPr>
              <a:t>Olasimbo</a:t>
            </a:r>
            <a:r>
              <a:rPr lang="en-IN" sz="1800" b="1" dirty="0">
                <a:solidFill>
                  <a:srgbClr val="000000"/>
                </a:solidFill>
                <a:effectLst/>
                <a:latin typeface="Calibri" panose="020F0502020204030204" pitchFamily="34" charset="0"/>
                <a:ea typeface="Calibri" panose="020F0502020204030204" pitchFamily="34" charset="0"/>
              </a:rPr>
              <a:t>, in Proceedings of the 2017 IEEE Conference on Control, Computing, Communication and Materials (ICCCCM), pp. 2327, Jan. 2017 </a:t>
            </a:r>
            <a:r>
              <a:rPr lang="en-IN" sz="1800"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 </a:t>
            </a:r>
          </a:p>
          <a:p>
            <a:pPr marL="3175" marR="410845" indent="-6350">
              <a:lnSpc>
                <a:spcPct val="104000"/>
              </a:lnSpc>
              <a:spcAft>
                <a:spcPts val="40"/>
              </a:spcAft>
            </a:pPr>
            <a:r>
              <a:rPr lang="en-IN" sz="1800" dirty="0">
                <a:solidFill>
                  <a:srgbClr val="000000"/>
                </a:solidFill>
                <a:effectLst/>
                <a:latin typeface="Times New Roman" panose="02020603050405020304" pitchFamily="18" charset="0"/>
                <a:ea typeface="Times New Roman" panose="02020603050405020304" pitchFamily="18" charset="0"/>
              </a:rPr>
              <a:t>The paper titled "Digital image forgery detection techniques: A review" by A. K. </a:t>
            </a:r>
            <a:r>
              <a:rPr lang="en-IN" sz="1800" dirty="0" err="1">
                <a:solidFill>
                  <a:srgbClr val="000000"/>
                </a:solidFill>
                <a:effectLst/>
                <a:latin typeface="Times New Roman" panose="02020603050405020304" pitchFamily="18" charset="0"/>
                <a:ea typeface="Times New Roman" panose="02020603050405020304" pitchFamily="18" charset="0"/>
              </a:rPr>
              <a:t>Alazawi</a:t>
            </a:r>
            <a:r>
              <a:rPr lang="en-IN" sz="1800" dirty="0">
                <a:solidFill>
                  <a:srgbClr val="000000"/>
                </a:solidFill>
                <a:effectLst/>
                <a:latin typeface="Times New Roman" panose="02020603050405020304" pitchFamily="18" charset="0"/>
                <a:ea typeface="Times New Roman" panose="02020603050405020304" pitchFamily="18" charset="0"/>
              </a:rPr>
              <a:t> and J. B. </a:t>
            </a:r>
            <a:r>
              <a:rPr lang="en-IN" sz="1800" dirty="0" err="1">
                <a:solidFill>
                  <a:srgbClr val="000000"/>
                </a:solidFill>
                <a:effectLst/>
                <a:latin typeface="Times New Roman" panose="02020603050405020304" pitchFamily="18" charset="0"/>
                <a:ea typeface="Times New Roman" panose="02020603050405020304" pitchFamily="18" charset="0"/>
              </a:rPr>
              <a:t>Olasimbo</a:t>
            </a:r>
            <a:r>
              <a:rPr lang="en-IN" sz="1800" dirty="0">
                <a:solidFill>
                  <a:srgbClr val="000000"/>
                </a:solidFill>
                <a:effectLst/>
                <a:latin typeface="Times New Roman" panose="02020603050405020304" pitchFamily="18" charset="0"/>
                <a:ea typeface="Times New Roman" panose="02020603050405020304" pitchFamily="18" charset="0"/>
              </a:rPr>
              <a:t>, published in the proceedings of the 2017 IEEE Conference on Control, Computing, Communication, and Materials (ICCCCM), provides a comprehensive review of the different digital image forgery detection techniques.  </a:t>
            </a:r>
          </a:p>
          <a:p>
            <a:pPr marL="3175" marR="410845" indent="-6350">
              <a:lnSpc>
                <a:spcPct val="104000"/>
              </a:lnSpc>
              <a:spcAft>
                <a:spcPts val="40"/>
              </a:spcAft>
            </a:pPr>
            <a:r>
              <a:rPr lang="en-IN" sz="1800" dirty="0">
                <a:solidFill>
                  <a:srgbClr val="000000"/>
                </a:solidFill>
                <a:effectLst/>
                <a:latin typeface="Times New Roman" panose="02020603050405020304" pitchFamily="18" charset="0"/>
                <a:ea typeface="Times New Roman" panose="02020603050405020304" pitchFamily="18" charset="0"/>
              </a:rPr>
              <a:t>The paper starts with an introduction to the concept of digital image forgery and its impact on society. It then provides a classification of digital image forgery techniques into three main categories: copy-move, splicing, and retouching. Each of these categories is described in detail, along with the techniques used to detect them.  </a:t>
            </a:r>
          </a:p>
          <a:p>
            <a:pPr marL="3175" marR="410845" indent="-6350">
              <a:lnSpc>
                <a:spcPct val="104000"/>
              </a:lnSpc>
              <a:spcAft>
                <a:spcPts val="40"/>
              </a:spcAft>
            </a:pPr>
            <a:r>
              <a:rPr lang="en-IN" sz="1800" dirty="0">
                <a:solidFill>
                  <a:srgbClr val="000000"/>
                </a:solidFill>
                <a:effectLst/>
                <a:latin typeface="Times New Roman" panose="02020603050405020304" pitchFamily="18" charset="0"/>
                <a:ea typeface="Times New Roman" panose="02020603050405020304" pitchFamily="18" charset="0"/>
              </a:rPr>
              <a:t>The paper then discusses various digital image forgery detection techniques, such as watermarking, cryptographic-based techniques, and steganography-based techniques. It also provides a comparison of these techniques based on their strengths and weaknesses.  </a:t>
            </a:r>
          </a:p>
          <a:p>
            <a:endParaRPr lang="en-US" sz="1800" dirty="0">
              <a:effectLst/>
              <a:latin typeface="Times New Roman" panose="02020603050405020304" pitchFamily="18" charset="0"/>
              <a:ea typeface="Times New Roman" panose="02020603050405020304" pitchFamily="18" charset="0"/>
            </a:endParaRPr>
          </a:p>
          <a:p>
            <a:pPr marL="0" indent="0">
              <a:buNone/>
            </a:pPr>
            <a:endParaRPr lang="en-IN" sz="1800" dirty="0">
              <a:effectLst/>
              <a:latin typeface="Times New Roman" panose="02020603050405020304" pitchFamily="18" charset="0"/>
              <a:ea typeface="Times New Roman" panose="02020603050405020304" pitchFamily="18" charset="0"/>
            </a:endParaRPr>
          </a:p>
        </p:txBody>
      </p:sp>
      <p:pic>
        <p:nvPicPr>
          <p:cNvPr id="13314" name="Picture 2" descr="Parul University (@ParulUniversity) / Twitter">
            <a:extLst>
              <a:ext uri="{FF2B5EF4-FFF2-40B4-BE49-F238E27FC236}">
                <a16:creationId xmlns:a16="http://schemas.microsoft.com/office/drawing/2014/main" id="{EEE425A4-45B2-6869-DC4D-946139BED4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2444" y="0"/>
            <a:ext cx="1710813" cy="1710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8917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2729C-3FEE-D95B-18FF-94CF81C48966}"/>
              </a:ext>
            </a:extLst>
          </p:cNvPr>
          <p:cNvSpPr>
            <a:spLocks noGrp="1"/>
          </p:cNvSpPr>
          <p:nvPr>
            <p:ph type="title"/>
          </p:nvPr>
        </p:nvSpPr>
        <p:spPr/>
        <p:txBody>
          <a:bodyPr/>
          <a:lstStyle/>
          <a:p>
            <a:r>
              <a:rPr lang="en-US" dirty="0"/>
              <a:t>Screen shoots of</a:t>
            </a:r>
            <a:r>
              <a:rPr lang="en-IN" dirty="0"/>
              <a:t> implemented work</a:t>
            </a:r>
          </a:p>
        </p:txBody>
      </p:sp>
      <p:sp>
        <p:nvSpPr>
          <p:cNvPr id="3" name="Content Placeholder 2">
            <a:extLst>
              <a:ext uri="{FF2B5EF4-FFF2-40B4-BE49-F238E27FC236}">
                <a16:creationId xmlns:a16="http://schemas.microsoft.com/office/drawing/2014/main" id="{C145DA5D-241A-34F2-8854-481342D46124}"/>
              </a:ext>
            </a:extLst>
          </p:cNvPr>
          <p:cNvSpPr>
            <a:spLocks noGrp="1"/>
          </p:cNvSpPr>
          <p:nvPr>
            <p:ph idx="1"/>
          </p:nvPr>
        </p:nvSpPr>
        <p:spPr>
          <a:xfrm>
            <a:off x="1451578" y="1853754"/>
            <a:ext cx="9603275" cy="3450613"/>
          </a:xfrm>
        </p:spPr>
        <p:txBody>
          <a:bodyPr>
            <a:normAutofit/>
          </a:bodyPr>
          <a:lstStyle/>
          <a:p>
            <a:pPr marL="0" indent="0">
              <a:buNone/>
            </a:pPr>
            <a:r>
              <a:rPr lang="en-US" sz="1400" dirty="0">
                <a:effectLst/>
                <a:latin typeface="Times New Roman" panose="02020603050405020304" pitchFamily="18" charset="0"/>
                <a:ea typeface="Times New Roman" panose="02020603050405020304" pitchFamily="18" charset="0"/>
              </a:rPr>
              <a:t>import cv2</a:t>
            </a:r>
          </a:p>
          <a:p>
            <a:pPr marL="0" indent="0">
              <a:buNone/>
            </a:pPr>
            <a:r>
              <a:rPr lang="en-US" sz="1400" dirty="0">
                <a:effectLst/>
                <a:latin typeface="Times New Roman" panose="02020603050405020304" pitchFamily="18" charset="0"/>
                <a:ea typeface="Times New Roman" panose="02020603050405020304" pitchFamily="18" charset="0"/>
              </a:rPr>
              <a:t>def </a:t>
            </a:r>
            <a:r>
              <a:rPr lang="en-US" sz="1400" dirty="0" err="1">
                <a:effectLst/>
                <a:latin typeface="Times New Roman" panose="02020603050405020304" pitchFamily="18" charset="0"/>
                <a:ea typeface="Times New Roman" panose="02020603050405020304" pitchFamily="18" charset="0"/>
              </a:rPr>
              <a:t>preprocess_image</a:t>
            </a:r>
            <a:r>
              <a:rPr lang="en-US" sz="1400" dirty="0">
                <a:effectLst/>
                <a:latin typeface="Times New Roman" panose="02020603050405020304" pitchFamily="18" charset="0"/>
                <a:ea typeface="Times New Roman" panose="02020603050405020304" pitchFamily="18" charset="0"/>
              </a:rPr>
              <a:t>(</a:t>
            </a:r>
            <a:r>
              <a:rPr lang="en-US" sz="1400" dirty="0" err="1">
                <a:effectLst/>
                <a:latin typeface="Times New Roman" panose="02020603050405020304" pitchFamily="18" charset="0"/>
                <a:ea typeface="Times New Roman" panose="02020603050405020304" pitchFamily="18" charset="0"/>
              </a:rPr>
              <a:t>image_path</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target_size</a:t>
            </a:r>
            <a:r>
              <a:rPr lang="en-US" sz="1400" dirty="0">
                <a:effectLst/>
                <a:latin typeface="Times New Roman" panose="02020603050405020304" pitchFamily="18" charset="0"/>
                <a:ea typeface="Times New Roman" panose="02020603050405020304" pitchFamily="18" charset="0"/>
              </a:rPr>
              <a:t>=(256, 256)):    </a:t>
            </a:r>
          </a:p>
          <a:p>
            <a:pPr marL="0" indent="0">
              <a:buNone/>
            </a:pPr>
            <a:r>
              <a:rPr lang="en-US" sz="1400" dirty="0">
                <a:effectLst/>
                <a:latin typeface="Times New Roman" panose="02020603050405020304" pitchFamily="18" charset="0"/>
                <a:ea typeface="Times New Roman" panose="02020603050405020304" pitchFamily="18" charset="0"/>
              </a:rPr>
              <a:t>image = cv2.imread(</a:t>
            </a:r>
            <a:r>
              <a:rPr lang="en-US" sz="1400" dirty="0" err="1">
                <a:effectLst/>
                <a:latin typeface="Times New Roman" panose="02020603050405020304" pitchFamily="18" charset="0"/>
                <a:ea typeface="Times New Roman" panose="02020603050405020304" pitchFamily="18" charset="0"/>
              </a:rPr>
              <a:t>image_path</a:t>
            </a:r>
            <a:r>
              <a:rPr lang="en-US" sz="1400" dirty="0">
                <a:effectLst/>
                <a:latin typeface="Times New Roman" panose="02020603050405020304" pitchFamily="18" charset="0"/>
                <a:ea typeface="Times New Roman" panose="02020603050405020304" pitchFamily="18" charset="0"/>
              </a:rPr>
              <a:t>)    </a:t>
            </a:r>
          </a:p>
          <a:p>
            <a:pPr marL="0" indent="0">
              <a:buNone/>
            </a:pPr>
            <a:r>
              <a:rPr lang="en-US" sz="1400" dirty="0">
                <a:effectLst/>
                <a:latin typeface="Times New Roman" panose="02020603050405020304" pitchFamily="18" charset="0"/>
                <a:ea typeface="Times New Roman" panose="02020603050405020304" pitchFamily="18" charset="0"/>
              </a:rPr>
              <a:t>image = cv2.resize(image, </a:t>
            </a:r>
            <a:r>
              <a:rPr lang="en-US" sz="1400" dirty="0" err="1">
                <a:effectLst/>
                <a:latin typeface="Times New Roman" panose="02020603050405020304" pitchFamily="18" charset="0"/>
                <a:ea typeface="Times New Roman" panose="02020603050405020304" pitchFamily="18" charset="0"/>
              </a:rPr>
              <a:t>target_size</a:t>
            </a:r>
            <a:r>
              <a:rPr lang="en-US" sz="1400" dirty="0">
                <a:effectLst/>
                <a:latin typeface="Times New Roman" panose="02020603050405020304" pitchFamily="18" charset="0"/>
                <a:ea typeface="Times New Roman" panose="02020603050405020304" pitchFamily="18" charset="0"/>
              </a:rPr>
              <a:t>)    </a:t>
            </a:r>
          </a:p>
          <a:p>
            <a:pPr marL="0" indent="0">
              <a:buNone/>
            </a:pPr>
            <a:r>
              <a:rPr lang="en-US" sz="1400" dirty="0" err="1">
                <a:effectLst/>
                <a:latin typeface="Times New Roman" panose="02020603050405020304" pitchFamily="18" charset="0"/>
                <a:ea typeface="Times New Roman" panose="02020603050405020304" pitchFamily="18" charset="0"/>
              </a:rPr>
              <a:t>gray_image</a:t>
            </a:r>
            <a:r>
              <a:rPr lang="en-US" sz="1400" dirty="0">
                <a:effectLst/>
                <a:latin typeface="Times New Roman" panose="02020603050405020304" pitchFamily="18" charset="0"/>
                <a:ea typeface="Times New Roman" panose="02020603050405020304" pitchFamily="18" charset="0"/>
              </a:rPr>
              <a:t> = cv2.cvtColor(image, cv2.COLOR_BGR2GRAY)    </a:t>
            </a:r>
          </a:p>
          <a:p>
            <a:pPr marL="0" indent="0">
              <a:buNone/>
            </a:pPr>
            <a:r>
              <a:rPr lang="en-US" sz="1400" dirty="0">
                <a:effectLst/>
                <a:latin typeface="Times New Roman" panose="02020603050405020304" pitchFamily="18" charset="0"/>
                <a:ea typeface="Times New Roman" panose="02020603050405020304" pitchFamily="18" charset="0"/>
              </a:rPr>
              <a:t>return </a:t>
            </a:r>
            <a:r>
              <a:rPr lang="en-US" sz="1400" dirty="0" err="1">
                <a:effectLst/>
                <a:latin typeface="Times New Roman" panose="02020603050405020304" pitchFamily="18" charset="0"/>
                <a:ea typeface="Times New Roman" panose="02020603050405020304" pitchFamily="18" charset="0"/>
              </a:rPr>
              <a:t>gray_image</a:t>
            </a:r>
            <a:endParaRPr lang="en-US" sz="1400" dirty="0">
              <a:effectLst/>
              <a:latin typeface="Times New Roman" panose="02020603050405020304" pitchFamily="18" charset="0"/>
              <a:ea typeface="Times New Roman" panose="02020603050405020304" pitchFamily="18" charset="0"/>
            </a:endParaRPr>
          </a:p>
          <a:p>
            <a:pPr marL="0" indent="0">
              <a:buNone/>
            </a:pPr>
            <a:endParaRPr lang="en-IN" sz="1800" dirty="0">
              <a:effectLst/>
              <a:latin typeface="Times New Roman" panose="02020603050405020304" pitchFamily="18" charset="0"/>
              <a:ea typeface="Times New Roman" panose="02020603050405020304" pitchFamily="18" charset="0"/>
            </a:endParaRPr>
          </a:p>
        </p:txBody>
      </p:sp>
      <p:pic>
        <p:nvPicPr>
          <p:cNvPr id="14338" name="Picture 2" descr="Parul University (@ParulUniversity) / Twitter">
            <a:extLst>
              <a:ext uri="{FF2B5EF4-FFF2-40B4-BE49-F238E27FC236}">
                <a16:creationId xmlns:a16="http://schemas.microsoft.com/office/drawing/2014/main" id="{38526A1A-0047-5A75-F521-F5563CCC01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2651" y="26680"/>
            <a:ext cx="1720645" cy="1720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7256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2729C-3FEE-D95B-18FF-94CF81C48966}"/>
              </a:ext>
            </a:extLst>
          </p:cNvPr>
          <p:cNvSpPr>
            <a:spLocks noGrp="1"/>
          </p:cNvSpPr>
          <p:nvPr>
            <p:ph type="title"/>
          </p:nvPr>
        </p:nvSpPr>
        <p:spPr/>
        <p:txBody>
          <a:bodyPr/>
          <a:lstStyle/>
          <a:p>
            <a:r>
              <a:rPr lang="en-US" dirty="0"/>
              <a:t>Screen shoots of</a:t>
            </a:r>
            <a:r>
              <a:rPr lang="en-IN" dirty="0"/>
              <a:t> implemented work</a:t>
            </a:r>
          </a:p>
        </p:txBody>
      </p:sp>
      <p:sp>
        <p:nvSpPr>
          <p:cNvPr id="3" name="Content Placeholder 2">
            <a:extLst>
              <a:ext uri="{FF2B5EF4-FFF2-40B4-BE49-F238E27FC236}">
                <a16:creationId xmlns:a16="http://schemas.microsoft.com/office/drawing/2014/main" id="{C145DA5D-241A-34F2-8854-481342D46124}"/>
              </a:ext>
            </a:extLst>
          </p:cNvPr>
          <p:cNvSpPr>
            <a:spLocks noGrp="1"/>
          </p:cNvSpPr>
          <p:nvPr>
            <p:ph idx="1"/>
          </p:nvPr>
        </p:nvSpPr>
        <p:spPr/>
        <p:txBody>
          <a:bodyPr>
            <a:normAutofit/>
          </a:bodyPr>
          <a:lstStyle/>
          <a:p>
            <a:pPr marL="0" indent="0">
              <a:buNone/>
            </a:pPr>
            <a:r>
              <a:rPr lang="en-US" sz="1800" dirty="0">
                <a:effectLst/>
                <a:latin typeface="Times New Roman" panose="02020603050405020304" pitchFamily="18" charset="0"/>
                <a:ea typeface="Times New Roman" panose="02020603050405020304" pitchFamily="18" charset="0"/>
              </a:rPr>
              <a:t>import cv2</a:t>
            </a:r>
          </a:p>
          <a:p>
            <a:pPr marL="0" indent="0">
              <a:buNone/>
            </a:pPr>
            <a:r>
              <a:rPr lang="en-US" sz="1800" dirty="0">
                <a:effectLst/>
                <a:latin typeface="Times New Roman" panose="02020603050405020304" pitchFamily="18" charset="0"/>
                <a:ea typeface="Times New Roman" panose="02020603050405020304" pitchFamily="18" charset="0"/>
              </a:rPr>
              <a:t>def </a:t>
            </a:r>
            <a:r>
              <a:rPr lang="en-US" sz="1800" dirty="0" err="1">
                <a:effectLst/>
                <a:latin typeface="Times New Roman" panose="02020603050405020304" pitchFamily="18" charset="0"/>
                <a:ea typeface="Times New Roman" panose="02020603050405020304" pitchFamily="18" charset="0"/>
              </a:rPr>
              <a:t>extract_features</a:t>
            </a:r>
            <a:r>
              <a:rPr lang="en-US" sz="1800" dirty="0">
                <a:effectLst/>
                <a:latin typeface="Times New Roman" panose="02020603050405020304" pitchFamily="18" charset="0"/>
                <a:ea typeface="Times New Roman" panose="02020603050405020304" pitchFamily="18" charset="0"/>
              </a:rPr>
              <a:t>(image):    </a:t>
            </a:r>
          </a:p>
          <a:p>
            <a:pPr marL="0" indent="0">
              <a:buNone/>
            </a:pPr>
            <a:r>
              <a:rPr lang="en-US" sz="1800" dirty="0">
                <a:effectLst/>
                <a:latin typeface="Times New Roman" panose="02020603050405020304" pitchFamily="18" charset="0"/>
                <a:ea typeface="Times New Roman" panose="02020603050405020304" pitchFamily="18" charset="0"/>
              </a:rPr>
              <a:t># Apply feature extraction algorithm (e.g., LBP, SIFT, SURF)   </a:t>
            </a:r>
          </a:p>
          <a:p>
            <a:pPr marL="0" indent="0">
              <a:buNone/>
            </a:pPr>
            <a:r>
              <a:rPr lang="en-US" sz="1800" dirty="0">
                <a:effectLst/>
                <a:latin typeface="Times New Roman" panose="02020603050405020304" pitchFamily="18" charset="0"/>
                <a:ea typeface="Times New Roman" panose="02020603050405020304" pitchFamily="18" charset="0"/>
              </a:rPr>
              <a:t> descriptor = cv2.SIFT_create()    _, </a:t>
            </a:r>
          </a:p>
          <a:p>
            <a:pPr marL="0" indent="0">
              <a:buNone/>
            </a:pPr>
            <a:r>
              <a:rPr lang="en-US" sz="1800" dirty="0">
                <a:effectLst/>
                <a:latin typeface="Times New Roman" panose="02020603050405020304" pitchFamily="18" charset="0"/>
                <a:ea typeface="Times New Roman" panose="02020603050405020304" pitchFamily="18" charset="0"/>
              </a:rPr>
              <a:t>features = </a:t>
            </a:r>
            <a:r>
              <a:rPr lang="en-US" sz="1800" dirty="0" err="1">
                <a:effectLst/>
                <a:latin typeface="Times New Roman" panose="02020603050405020304" pitchFamily="18" charset="0"/>
                <a:ea typeface="Times New Roman" panose="02020603050405020304" pitchFamily="18" charset="0"/>
              </a:rPr>
              <a:t>descriptor.detectAndCompute</a:t>
            </a:r>
            <a:r>
              <a:rPr lang="en-US" sz="1800" dirty="0">
                <a:effectLst/>
                <a:latin typeface="Times New Roman" panose="02020603050405020304" pitchFamily="18" charset="0"/>
                <a:ea typeface="Times New Roman" panose="02020603050405020304" pitchFamily="18" charset="0"/>
              </a:rPr>
              <a:t>(image, None)    </a:t>
            </a:r>
          </a:p>
          <a:p>
            <a:pPr marL="0" indent="0">
              <a:buNone/>
            </a:pPr>
            <a:r>
              <a:rPr lang="en-US" sz="1800" dirty="0">
                <a:effectLst/>
                <a:latin typeface="Times New Roman" panose="02020603050405020304" pitchFamily="18" charset="0"/>
                <a:ea typeface="Times New Roman" panose="02020603050405020304" pitchFamily="18" charset="0"/>
              </a:rPr>
              <a:t>return features</a:t>
            </a:r>
          </a:p>
          <a:p>
            <a:pPr marL="0" indent="0">
              <a:buNone/>
            </a:pPr>
            <a:endParaRPr lang="en-IN" sz="1800" dirty="0">
              <a:effectLst/>
              <a:latin typeface="Times New Roman" panose="02020603050405020304" pitchFamily="18" charset="0"/>
              <a:ea typeface="Times New Roman" panose="02020603050405020304" pitchFamily="18" charset="0"/>
            </a:endParaRPr>
          </a:p>
        </p:txBody>
      </p:sp>
      <p:pic>
        <p:nvPicPr>
          <p:cNvPr id="15362" name="Picture 2" descr="Parul University (@ParulUniversity) / Twitter">
            <a:extLst>
              <a:ext uri="{FF2B5EF4-FFF2-40B4-BE49-F238E27FC236}">
                <a16:creationId xmlns:a16="http://schemas.microsoft.com/office/drawing/2014/main" id="{0EB3FA5D-B070-F927-E179-86A91ADD38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4999" y="117987"/>
            <a:ext cx="1632155" cy="1632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0064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2729C-3FEE-D95B-18FF-94CF81C48966}"/>
              </a:ext>
            </a:extLst>
          </p:cNvPr>
          <p:cNvSpPr>
            <a:spLocks noGrp="1"/>
          </p:cNvSpPr>
          <p:nvPr>
            <p:ph type="title"/>
          </p:nvPr>
        </p:nvSpPr>
        <p:spPr/>
        <p:txBody>
          <a:bodyPr/>
          <a:lstStyle/>
          <a:p>
            <a:r>
              <a:rPr lang="en-US" dirty="0"/>
              <a:t>Screen shoots of</a:t>
            </a:r>
            <a:r>
              <a:rPr lang="en-IN" dirty="0"/>
              <a:t> implemented work</a:t>
            </a:r>
          </a:p>
        </p:txBody>
      </p:sp>
      <p:sp>
        <p:nvSpPr>
          <p:cNvPr id="3" name="Content Placeholder 2">
            <a:extLst>
              <a:ext uri="{FF2B5EF4-FFF2-40B4-BE49-F238E27FC236}">
                <a16:creationId xmlns:a16="http://schemas.microsoft.com/office/drawing/2014/main" id="{C145DA5D-241A-34F2-8854-481342D46124}"/>
              </a:ext>
            </a:extLst>
          </p:cNvPr>
          <p:cNvSpPr>
            <a:spLocks noGrp="1"/>
          </p:cNvSpPr>
          <p:nvPr>
            <p:ph idx="1"/>
          </p:nvPr>
        </p:nvSpPr>
        <p:spPr/>
        <p:txBody>
          <a:bodyPr>
            <a:normAutofit fontScale="55000" lnSpcReduction="20000"/>
          </a:bodyPr>
          <a:lstStyle/>
          <a:p>
            <a:pPr marL="0" indent="0">
              <a:buNone/>
            </a:pPr>
            <a:r>
              <a:rPr lang="en-US" sz="1800" dirty="0">
                <a:effectLst/>
                <a:latin typeface="Times New Roman" panose="02020603050405020304" pitchFamily="18" charset="0"/>
                <a:ea typeface="Times New Roman" panose="02020603050405020304" pitchFamily="18" charset="0"/>
              </a:rPr>
              <a:t>from </a:t>
            </a:r>
            <a:r>
              <a:rPr lang="en-US" sz="1800" dirty="0" err="1">
                <a:effectLst/>
                <a:latin typeface="Times New Roman" panose="02020603050405020304" pitchFamily="18" charset="0"/>
                <a:ea typeface="Times New Roman" panose="02020603050405020304" pitchFamily="18" charset="0"/>
              </a:rPr>
              <a:t>sklearn.model_selection</a:t>
            </a:r>
            <a:r>
              <a:rPr lang="en-US" sz="1800" dirty="0">
                <a:effectLst/>
                <a:latin typeface="Times New Roman" panose="02020603050405020304" pitchFamily="18" charset="0"/>
                <a:ea typeface="Times New Roman" panose="02020603050405020304" pitchFamily="18" charset="0"/>
              </a:rPr>
              <a:t> import </a:t>
            </a:r>
            <a:r>
              <a:rPr lang="en-US" sz="1800" dirty="0" err="1">
                <a:effectLst/>
                <a:latin typeface="Times New Roman" panose="02020603050405020304" pitchFamily="18" charset="0"/>
                <a:ea typeface="Times New Roman" panose="02020603050405020304" pitchFamily="18" charset="0"/>
              </a:rPr>
              <a:t>train_test_split</a:t>
            </a:r>
            <a:endParaRPr lang="en-US" sz="1800" dirty="0">
              <a:effectLst/>
              <a:latin typeface="Times New Roman" panose="02020603050405020304" pitchFamily="18" charset="0"/>
              <a:ea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from </a:t>
            </a:r>
            <a:r>
              <a:rPr lang="en-US" sz="1800" dirty="0" err="1">
                <a:effectLst/>
                <a:latin typeface="Times New Roman" panose="02020603050405020304" pitchFamily="18" charset="0"/>
                <a:ea typeface="Times New Roman" panose="02020603050405020304" pitchFamily="18" charset="0"/>
              </a:rPr>
              <a:t>sklearn.svm</a:t>
            </a:r>
            <a:r>
              <a:rPr lang="en-US" sz="1800" dirty="0">
                <a:effectLst/>
                <a:latin typeface="Times New Roman" panose="02020603050405020304" pitchFamily="18" charset="0"/>
                <a:ea typeface="Times New Roman" panose="02020603050405020304" pitchFamily="18" charset="0"/>
              </a:rPr>
              <a:t> import SVC</a:t>
            </a:r>
          </a:p>
          <a:p>
            <a:pPr marL="0" indent="0">
              <a:buNone/>
            </a:pPr>
            <a:r>
              <a:rPr lang="en-US" sz="1800" dirty="0">
                <a:effectLst/>
                <a:latin typeface="Times New Roman" panose="02020603050405020304" pitchFamily="18" charset="0"/>
                <a:ea typeface="Times New Roman" panose="02020603050405020304" pitchFamily="18" charset="0"/>
              </a:rPr>
              <a:t>from </a:t>
            </a:r>
            <a:r>
              <a:rPr lang="en-US" sz="1800" dirty="0" err="1">
                <a:effectLst/>
                <a:latin typeface="Times New Roman" panose="02020603050405020304" pitchFamily="18" charset="0"/>
                <a:ea typeface="Times New Roman" panose="02020603050405020304" pitchFamily="18" charset="0"/>
              </a:rPr>
              <a:t>sklearn.metrics</a:t>
            </a:r>
            <a:r>
              <a:rPr lang="en-US" sz="1800" dirty="0">
                <a:effectLst/>
                <a:latin typeface="Times New Roman" panose="02020603050405020304" pitchFamily="18" charset="0"/>
                <a:ea typeface="Times New Roman" panose="02020603050405020304" pitchFamily="18" charset="0"/>
              </a:rPr>
              <a:t> import </a:t>
            </a:r>
            <a:r>
              <a:rPr lang="en-US" sz="1800" dirty="0" err="1">
                <a:effectLst/>
                <a:latin typeface="Times New Roman" panose="02020603050405020304" pitchFamily="18" charset="0"/>
                <a:ea typeface="Times New Roman" panose="02020603050405020304" pitchFamily="18" charset="0"/>
              </a:rPr>
              <a:t>accuracy_score</a:t>
            </a:r>
            <a:endParaRPr lang="en-US" sz="1800" dirty="0">
              <a:effectLst/>
              <a:latin typeface="Times New Roman" panose="02020603050405020304" pitchFamily="18" charset="0"/>
              <a:ea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 Assume you have labeled datasets: </a:t>
            </a:r>
          </a:p>
          <a:p>
            <a:pPr marL="0" indent="0">
              <a:buNone/>
            </a:pPr>
            <a:r>
              <a:rPr lang="en-US" sz="1800" dirty="0" err="1">
                <a:effectLst/>
                <a:latin typeface="Times New Roman" panose="02020603050405020304" pitchFamily="18" charset="0"/>
                <a:ea typeface="Times New Roman" panose="02020603050405020304" pitchFamily="18" charset="0"/>
              </a:rPr>
              <a:t>genuine_images</a:t>
            </a:r>
            <a:r>
              <a:rPr lang="en-US" sz="1800" dirty="0">
                <a:effectLst/>
                <a:latin typeface="Times New Roman" panose="02020603050405020304" pitchFamily="18" charset="0"/>
                <a:ea typeface="Times New Roman" panose="02020603050405020304" pitchFamily="18" charset="0"/>
              </a:rPr>
              <a:t> and </a:t>
            </a:r>
            <a:r>
              <a:rPr lang="en-US" sz="1800" dirty="0" err="1">
                <a:effectLst/>
                <a:latin typeface="Times New Roman" panose="02020603050405020304" pitchFamily="18" charset="0"/>
                <a:ea typeface="Times New Roman" panose="02020603050405020304" pitchFamily="18" charset="0"/>
              </a:rPr>
              <a:t>forged_images</a:t>
            </a:r>
            <a:endParaRPr lang="en-US" sz="1800" dirty="0">
              <a:effectLst/>
              <a:latin typeface="Times New Roman" panose="02020603050405020304" pitchFamily="18" charset="0"/>
              <a:ea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 Extract features for all genuine and forged images</a:t>
            </a:r>
          </a:p>
          <a:p>
            <a:pPr marL="0" indent="0">
              <a:buNone/>
            </a:pPr>
            <a:r>
              <a:rPr lang="en-US" sz="1800" dirty="0" err="1">
                <a:effectLst/>
                <a:latin typeface="Times New Roman" panose="02020603050405020304" pitchFamily="18" charset="0"/>
                <a:ea typeface="Times New Roman" panose="02020603050405020304" pitchFamily="18" charset="0"/>
              </a:rPr>
              <a:t>genuine_features</a:t>
            </a:r>
            <a:r>
              <a:rPr lang="en-US" sz="1800" dirty="0">
                <a:effectLst/>
                <a:latin typeface="Times New Roman" panose="02020603050405020304" pitchFamily="18" charset="0"/>
                <a:ea typeface="Times New Roman" panose="02020603050405020304" pitchFamily="18" charset="0"/>
              </a:rPr>
              <a:t> = [</a:t>
            </a:r>
            <a:r>
              <a:rPr lang="en-US" sz="1800" dirty="0" err="1">
                <a:effectLst/>
                <a:latin typeface="Times New Roman" panose="02020603050405020304" pitchFamily="18" charset="0"/>
                <a:ea typeface="Times New Roman" panose="02020603050405020304" pitchFamily="18" charset="0"/>
              </a:rPr>
              <a:t>extract_features</a:t>
            </a:r>
            <a:r>
              <a:rPr lang="en-US" sz="1800" dirty="0">
                <a:effectLst/>
                <a:latin typeface="Times New Roman" panose="02020603050405020304" pitchFamily="18" charset="0"/>
                <a:ea typeface="Times New Roman" panose="02020603050405020304" pitchFamily="18" charset="0"/>
              </a:rPr>
              <a:t>(image) for image in </a:t>
            </a:r>
            <a:r>
              <a:rPr lang="en-US" sz="1800" dirty="0" err="1">
                <a:effectLst/>
                <a:latin typeface="Times New Roman" panose="02020603050405020304" pitchFamily="18" charset="0"/>
                <a:ea typeface="Times New Roman" panose="02020603050405020304" pitchFamily="18" charset="0"/>
              </a:rPr>
              <a:t>genuine_images</a:t>
            </a:r>
            <a:r>
              <a:rPr lang="en-US" sz="1800" dirty="0">
                <a:effectLst/>
                <a:latin typeface="Times New Roman" panose="02020603050405020304" pitchFamily="18" charset="0"/>
                <a:ea typeface="Times New Roman" panose="02020603050405020304" pitchFamily="18" charset="0"/>
              </a:rPr>
              <a:t>]</a:t>
            </a:r>
          </a:p>
          <a:p>
            <a:pPr marL="0" indent="0">
              <a:buNone/>
            </a:pPr>
            <a:r>
              <a:rPr lang="en-US" sz="1800" dirty="0" err="1">
                <a:effectLst/>
                <a:latin typeface="Times New Roman" panose="02020603050405020304" pitchFamily="18" charset="0"/>
                <a:ea typeface="Times New Roman" panose="02020603050405020304" pitchFamily="18" charset="0"/>
              </a:rPr>
              <a:t>forged_features</a:t>
            </a:r>
            <a:r>
              <a:rPr lang="en-US" sz="1800" dirty="0">
                <a:effectLst/>
                <a:latin typeface="Times New Roman" panose="02020603050405020304" pitchFamily="18" charset="0"/>
                <a:ea typeface="Times New Roman" panose="02020603050405020304" pitchFamily="18" charset="0"/>
              </a:rPr>
              <a:t> = [</a:t>
            </a:r>
            <a:r>
              <a:rPr lang="en-US" sz="1800" dirty="0" err="1">
                <a:effectLst/>
                <a:latin typeface="Times New Roman" panose="02020603050405020304" pitchFamily="18" charset="0"/>
                <a:ea typeface="Times New Roman" panose="02020603050405020304" pitchFamily="18" charset="0"/>
              </a:rPr>
              <a:t>extract_features</a:t>
            </a:r>
            <a:r>
              <a:rPr lang="en-US" sz="1800" dirty="0">
                <a:effectLst/>
                <a:latin typeface="Times New Roman" panose="02020603050405020304" pitchFamily="18" charset="0"/>
                <a:ea typeface="Times New Roman" panose="02020603050405020304" pitchFamily="18" charset="0"/>
              </a:rPr>
              <a:t>(image) for image in </a:t>
            </a:r>
            <a:r>
              <a:rPr lang="en-US" sz="1800" dirty="0" err="1">
                <a:effectLst/>
                <a:latin typeface="Times New Roman" panose="02020603050405020304" pitchFamily="18" charset="0"/>
                <a:ea typeface="Times New Roman" panose="02020603050405020304" pitchFamily="18" charset="0"/>
              </a:rPr>
              <a:t>forged_images</a:t>
            </a:r>
            <a:r>
              <a:rPr lang="en-US" sz="1800" dirty="0">
                <a:effectLst/>
                <a:latin typeface="Times New Roman" panose="02020603050405020304" pitchFamily="18" charset="0"/>
                <a:ea typeface="Times New Roman" panose="02020603050405020304" pitchFamily="18" charset="0"/>
              </a:rPr>
              <a:t>]</a:t>
            </a:r>
          </a:p>
          <a:p>
            <a:pPr marL="0" indent="0">
              <a:buNone/>
            </a:pPr>
            <a:r>
              <a:rPr lang="en-US" sz="1800" dirty="0">
                <a:effectLst/>
                <a:latin typeface="Times New Roman" panose="02020603050405020304" pitchFamily="18" charset="0"/>
                <a:ea typeface="Times New Roman" panose="02020603050405020304" pitchFamily="18" charset="0"/>
              </a:rPr>
              <a:t># Create labels (0 for genuine, 1 for forged)labels = [0] * </a:t>
            </a:r>
            <a:r>
              <a:rPr lang="en-US" sz="1800" dirty="0" err="1">
                <a:effectLst/>
                <a:latin typeface="Times New Roman" panose="02020603050405020304" pitchFamily="18" charset="0"/>
                <a:ea typeface="Times New Roman" panose="02020603050405020304" pitchFamily="18" charset="0"/>
              </a:rPr>
              <a:t>len</a:t>
            </a:r>
            <a:r>
              <a:rPr lang="en-US" sz="1800" dirty="0">
                <a:effectLst/>
                <a:latin typeface="Times New Roman" panose="02020603050405020304" pitchFamily="18" charset="0"/>
                <a:ea typeface="Times New Roman" panose="02020603050405020304" pitchFamily="18" charset="0"/>
              </a:rPr>
              <a:t>(</a:t>
            </a:r>
            <a:r>
              <a:rPr lang="en-US" sz="1800" dirty="0" err="1">
                <a:effectLst/>
                <a:latin typeface="Times New Roman" panose="02020603050405020304" pitchFamily="18" charset="0"/>
                <a:ea typeface="Times New Roman" panose="02020603050405020304" pitchFamily="18" charset="0"/>
              </a:rPr>
              <a:t>genuine_features</a:t>
            </a:r>
            <a:r>
              <a:rPr lang="en-US" sz="1800" dirty="0">
                <a:effectLst/>
                <a:latin typeface="Times New Roman" panose="02020603050405020304" pitchFamily="18" charset="0"/>
                <a:ea typeface="Times New Roman" panose="02020603050405020304" pitchFamily="18" charset="0"/>
              </a:rPr>
              <a:t>) + [1] * </a:t>
            </a:r>
            <a:r>
              <a:rPr lang="en-US" sz="1800" dirty="0" err="1">
                <a:effectLst/>
                <a:latin typeface="Times New Roman" panose="02020603050405020304" pitchFamily="18" charset="0"/>
                <a:ea typeface="Times New Roman" panose="02020603050405020304" pitchFamily="18" charset="0"/>
              </a:rPr>
              <a:t>len</a:t>
            </a:r>
            <a:r>
              <a:rPr lang="en-US" sz="1800" dirty="0">
                <a:effectLst/>
                <a:latin typeface="Times New Roman" panose="02020603050405020304" pitchFamily="18" charset="0"/>
                <a:ea typeface="Times New Roman" panose="02020603050405020304" pitchFamily="18" charset="0"/>
              </a:rPr>
              <a:t>(</a:t>
            </a:r>
            <a:r>
              <a:rPr lang="en-US" sz="1800" dirty="0" err="1">
                <a:effectLst/>
                <a:latin typeface="Times New Roman" panose="02020603050405020304" pitchFamily="18" charset="0"/>
                <a:ea typeface="Times New Roman" panose="02020603050405020304" pitchFamily="18" charset="0"/>
              </a:rPr>
              <a:t>forged_features</a:t>
            </a:r>
            <a:r>
              <a:rPr lang="en-US" sz="1800" dirty="0">
                <a:effectLst/>
                <a:latin typeface="Times New Roman" panose="02020603050405020304" pitchFamily="18" charset="0"/>
                <a:ea typeface="Times New Roman" panose="02020603050405020304" pitchFamily="18" charset="0"/>
              </a:rPr>
              <a:t>)</a:t>
            </a:r>
          </a:p>
          <a:p>
            <a:pPr marL="0" indent="0">
              <a:buNone/>
            </a:pPr>
            <a:r>
              <a:rPr lang="en-US" sz="1800" dirty="0">
                <a:effectLst/>
                <a:latin typeface="Times New Roman" panose="02020603050405020304" pitchFamily="18" charset="0"/>
                <a:ea typeface="Times New Roman" panose="02020603050405020304" pitchFamily="18" charset="0"/>
              </a:rPr>
              <a:t># Concatenate features and labels</a:t>
            </a:r>
          </a:p>
          <a:p>
            <a:pPr marL="0" indent="0">
              <a:buNone/>
            </a:pPr>
            <a:r>
              <a:rPr lang="en-US" sz="1800" dirty="0" err="1">
                <a:effectLst/>
                <a:latin typeface="Times New Roman" panose="02020603050405020304" pitchFamily="18" charset="0"/>
                <a:ea typeface="Times New Roman" panose="02020603050405020304" pitchFamily="18" charset="0"/>
              </a:rPr>
              <a:t>all_features</a:t>
            </a:r>
            <a:r>
              <a:rPr lang="en-US" sz="1800" dirty="0">
                <a:effectLst/>
                <a:latin typeface="Times New Roman" panose="02020603050405020304" pitchFamily="18" charset="0"/>
                <a:ea typeface="Times New Roman" panose="02020603050405020304" pitchFamily="18" charset="0"/>
              </a:rPr>
              <a:t> = </a:t>
            </a:r>
            <a:r>
              <a:rPr lang="en-US" sz="1800" dirty="0" err="1">
                <a:effectLst/>
                <a:latin typeface="Times New Roman" panose="02020603050405020304" pitchFamily="18" charset="0"/>
                <a:ea typeface="Times New Roman" panose="02020603050405020304" pitchFamily="18" charset="0"/>
              </a:rPr>
              <a:t>genuine_features</a:t>
            </a:r>
            <a:r>
              <a:rPr lang="en-US" sz="1800" dirty="0">
                <a:effectLst/>
                <a:latin typeface="Times New Roman" panose="02020603050405020304" pitchFamily="18" charset="0"/>
                <a:ea typeface="Times New Roman" panose="02020603050405020304" pitchFamily="18" charset="0"/>
              </a:rPr>
              <a:t> + </a:t>
            </a:r>
            <a:r>
              <a:rPr lang="en-US" sz="1800" dirty="0" err="1">
                <a:effectLst/>
                <a:latin typeface="Times New Roman" panose="02020603050405020304" pitchFamily="18" charset="0"/>
                <a:ea typeface="Times New Roman" panose="02020603050405020304" pitchFamily="18" charset="0"/>
              </a:rPr>
              <a:t>forged_features</a:t>
            </a:r>
            <a:endParaRPr lang="en-US" sz="1800" dirty="0">
              <a:effectLst/>
              <a:latin typeface="Times New Roman" panose="02020603050405020304" pitchFamily="18" charset="0"/>
              <a:ea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 Split data into training and testing </a:t>
            </a:r>
            <a:r>
              <a:rPr lang="en-US" sz="1800" dirty="0" err="1">
                <a:effectLst/>
                <a:latin typeface="Times New Roman" panose="02020603050405020304" pitchFamily="18" charset="0"/>
                <a:ea typeface="Times New Roman" panose="02020603050405020304" pitchFamily="18" charset="0"/>
              </a:rPr>
              <a:t>setstrain_features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test_features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train_labels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test_labels</a:t>
            </a:r>
            <a:r>
              <a:rPr lang="en-US" sz="1800" dirty="0">
                <a:effectLst/>
                <a:latin typeface="Times New Roman" panose="02020603050405020304" pitchFamily="18" charset="0"/>
                <a:ea typeface="Times New Roman" panose="02020603050405020304" pitchFamily="18" charset="0"/>
              </a:rPr>
              <a:t> = </a:t>
            </a:r>
            <a:r>
              <a:rPr lang="en-US" sz="1800" dirty="0" err="1">
                <a:effectLst/>
                <a:latin typeface="Times New Roman" panose="02020603050405020304" pitchFamily="18" charset="0"/>
                <a:ea typeface="Times New Roman" panose="02020603050405020304" pitchFamily="18" charset="0"/>
              </a:rPr>
              <a:t>train_test_split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all_features</a:t>
            </a:r>
            <a:r>
              <a:rPr lang="en-US" sz="1800" dirty="0">
                <a:effectLst/>
                <a:latin typeface="Times New Roman" panose="02020603050405020304" pitchFamily="18" charset="0"/>
                <a:ea typeface="Times New Roman" panose="02020603050405020304" pitchFamily="18" charset="0"/>
              </a:rPr>
              <a:t>, labels, </a:t>
            </a:r>
            <a:r>
              <a:rPr lang="en-US" sz="1800" dirty="0" err="1">
                <a:effectLst/>
                <a:latin typeface="Times New Roman" panose="02020603050405020304" pitchFamily="18" charset="0"/>
                <a:ea typeface="Times New Roman" panose="02020603050405020304" pitchFamily="18" charset="0"/>
              </a:rPr>
              <a:t>test_size</a:t>
            </a:r>
            <a:r>
              <a:rPr lang="en-US" sz="1800" dirty="0">
                <a:effectLst/>
                <a:latin typeface="Times New Roman" panose="02020603050405020304" pitchFamily="18" charset="0"/>
                <a:ea typeface="Times New Roman" panose="02020603050405020304" pitchFamily="18" charset="0"/>
              </a:rPr>
              <a:t>=0.2, </a:t>
            </a:r>
            <a:r>
              <a:rPr lang="en-US" sz="1800" dirty="0" err="1">
                <a:effectLst/>
                <a:latin typeface="Times New Roman" panose="02020603050405020304" pitchFamily="18" charset="0"/>
                <a:ea typeface="Times New Roman" panose="02020603050405020304" pitchFamily="18" charset="0"/>
              </a:rPr>
              <a:t>random_state</a:t>
            </a:r>
            <a:r>
              <a:rPr lang="en-US" sz="1800" dirty="0">
                <a:effectLst/>
                <a:latin typeface="Times New Roman" panose="02020603050405020304" pitchFamily="18" charset="0"/>
                <a:ea typeface="Times New Roman" panose="02020603050405020304" pitchFamily="18" charset="0"/>
              </a:rPr>
              <a:t>=42)</a:t>
            </a:r>
          </a:p>
          <a:p>
            <a:pPr marL="0" indent="0">
              <a:buNone/>
            </a:pPr>
            <a:endParaRPr lang="en-IN" sz="1800" dirty="0">
              <a:effectLst/>
              <a:latin typeface="Times New Roman" panose="02020603050405020304" pitchFamily="18" charset="0"/>
              <a:ea typeface="Times New Roman" panose="02020603050405020304" pitchFamily="18" charset="0"/>
            </a:endParaRPr>
          </a:p>
        </p:txBody>
      </p:sp>
      <p:pic>
        <p:nvPicPr>
          <p:cNvPr id="16386" name="Picture 2" descr="Parul University (@ParulUniversity) / Twitter">
            <a:extLst>
              <a:ext uri="{FF2B5EF4-FFF2-40B4-BE49-F238E27FC236}">
                <a16:creationId xmlns:a16="http://schemas.microsoft.com/office/drawing/2014/main" id="{40C5181A-F168-EEB1-B589-41261BDC73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6004" y="0"/>
            <a:ext cx="1700981" cy="1700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3019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7F15-D1F3-78CE-79DC-EEA04491523E}"/>
              </a:ext>
            </a:extLst>
          </p:cNvPr>
          <p:cNvSpPr>
            <a:spLocks noGrp="1"/>
          </p:cNvSpPr>
          <p:nvPr>
            <p:ph type="title"/>
          </p:nvPr>
        </p:nvSpPr>
        <p:spPr>
          <a:xfrm>
            <a:off x="1500996" y="1233577"/>
            <a:ext cx="11490234" cy="996696"/>
          </a:xfrm>
        </p:spPr>
        <p:txBody>
          <a:bodyPr/>
          <a:lstStyle/>
          <a:p>
            <a:r>
              <a:rPr lang="en-IN" dirty="0" err="1"/>
              <a:t>iMPLEMENTATION</a:t>
            </a:r>
            <a:endParaRPr lang="en-IN" dirty="0"/>
          </a:p>
        </p:txBody>
      </p:sp>
      <p:sp>
        <p:nvSpPr>
          <p:cNvPr id="3" name="Content Placeholder 2">
            <a:extLst>
              <a:ext uri="{FF2B5EF4-FFF2-40B4-BE49-F238E27FC236}">
                <a16:creationId xmlns:a16="http://schemas.microsoft.com/office/drawing/2014/main" id="{F6F296BD-AD3E-0FFE-D6E7-74E924183854}"/>
              </a:ext>
            </a:extLst>
          </p:cNvPr>
          <p:cNvSpPr>
            <a:spLocks noGrp="1"/>
          </p:cNvSpPr>
          <p:nvPr>
            <p:ph idx="1"/>
          </p:nvPr>
        </p:nvSpPr>
        <p:spPr>
          <a:xfrm>
            <a:off x="1207698" y="1984075"/>
            <a:ext cx="9847157" cy="2846718"/>
          </a:xfrm>
        </p:spPr>
        <p:txBody>
          <a:bodyPr>
            <a:noAutofit/>
          </a:bodyPr>
          <a:lstStyle/>
          <a:p>
            <a:r>
              <a:rPr lang="en-US" sz="1800" dirty="0"/>
              <a:t>Detecting image forgery is a challenging task that requires a combination of computer vision, machine learning, and signal processing techniques. Here's a general outline of how you can implement an image forgery detection </a:t>
            </a:r>
            <a:r>
              <a:rPr lang="en-US" sz="1800" dirty="0" err="1"/>
              <a:t>project:Data</a:t>
            </a:r>
            <a:r>
              <a:rPr lang="en-US" sz="1800" dirty="0"/>
              <a:t> Collection: Collect a dataset of both authentic and manipulated images. There are several publicly available datasets that you can use, such as the CASIA dataset or the COVERAGE dataset. Ensure that your dataset has a diverse range of manipulation types (e.g., copy-move, splicing, retouching, etc.) and is well-labeled with ground truth </a:t>
            </a:r>
            <a:r>
              <a:rPr lang="en-US" sz="1800" dirty="0" err="1"/>
              <a:t>annotations.Feature</a:t>
            </a:r>
            <a:r>
              <a:rPr lang="en-US" sz="1800" dirty="0"/>
              <a:t> Extraction: Extract features from the images using various techniques such as</a:t>
            </a:r>
          </a:p>
          <a:p>
            <a:r>
              <a:rPr lang="en-US" sz="1800" dirty="0"/>
              <a:t>Discrete Wavelet Transform (DWT), Local Binary Patterns (LBP), Scale-Invariant Feature Transform (SIFT), etc. These features can capture the characteristics of the image, which can help in distinguishing between authentic and manipulated </a:t>
            </a:r>
            <a:r>
              <a:rPr lang="en-US" sz="1800" dirty="0" err="1"/>
              <a:t>images.Classification</a:t>
            </a:r>
            <a:r>
              <a:rPr lang="en-US" sz="1800" dirty="0"/>
              <a:t>: Train a classification model using a machine learning algorithm such as Support Vector Machines (SVM), Random Forest, or Convolutional Neural Networks (CNNs). Use the extracted features as input and train the model to distinguish between image</a:t>
            </a:r>
          </a:p>
        </p:txBody>
      </p:sp>
      <p:pic>
        <p:nvPicPr>
          <p:cNvPr id="17410" name="Picture 2" descr="Parul University (@ParulUniversity) / Twitter">
            <a:extLst>
              <a:ext uri="{FF2B5EF4-FFF2-40B4-BE49-F238E27FC236}">
                <a16:creationId xmlns:a16="http://schemas.microsoft.com/office/drawing/2014/main" id="{A1DCAE75-FF72-8FC8-A3B6-4B6491422E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3891" y="139099"/>
            <a:ext cx="1592826" cy="1592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0465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7F15-D1F3-78CE-79DC-EEA04491523E}"/>
              </a:ext>
            </a:extLst>
          </p:cNvPr>
          <p:cNvSpPr>
            <a:spLocks noGrp="1"/>
          </p:cNvSpPr>
          <p:nvPr>
            <p:ph type="title"/>
          </p:nvPr>
        </p:nvSpPr>
        <p:spPr>
          <a:xfrm>
            <a:off x="1500996" y="1233577"/>
            <a:ext cx="11490234" cy="996696"/>
          </a:xfrm>
        </p:spPr>
        <p:txBody>
          <a:bodyPr/>
          <a:lstStyle/>
          <a:p>
            <a:r>
              <a:rPr lang="en-US" dirty="0"/>
              <a:t>D</a:t>
            </a:r>
            <a:r>
              <a:rPr lang="en-IN" dirty="0"/>
              <a:t>EMONISTRATION OF PROJECT:</a:t>
            </a:r>
          </a:p>
        </p:txBody>
      </p:sp>
      <p:sp>
        <p:nvSpPr>
          <p:cNvPr id="3" name="Content Placeholder 2">
            <a:extLst>
              <a:ext uri="{FF2B5EF4-FFF2-40B4-BE49-F238E27FC236}">
                <a16:creationId xmlns:a16="http://schemas.microsoft.com/office/drawing/2014/main" id="{F6F296BD-AD3E-0FFE-D6E7-74E924183854}"/>
              </a:ext>
            </a:extLst>
          </p:cNvPr>
          <p:cNvSpPr>
            <a:spLocks noGrp="1"/>
          </p:cNvSpPr>
          <p:nvPr>
            <p:ph idx="1"/>
          </p:nvPr>
        </p:nvSpPr>
        <p:spPr>
          <a:xfrm>
            <a:off x="1207698" y="1984075"/>
            <a:ext cx="9847157" cy="2846718"/>
          </a:xfrm>
        </p:spPr>
        <p:txBody>
          <a:bodyPr>
            <a:noAutofit/>
          </a:bodyPr>
          <a:lstStyle/>
          <a:p>
            <a:pPr marL="0" indent="0">
              <a:buNone/>
            </a:pPr>
            <a:r>
              <a:rPr lang="en-US" sz="1800" dirty="0"/>
              <a:t>Dataset Preparation: Gather a dataset of labeled images that include both authentic images and various types of forged images, such as copy-move forgeries, spliced images, or retouched images. Ensure that the dataset covers a wide range of forgery scenarios and includes ground truth labels for training and evaluation.</a:t>
            </a:r>
          </a:p>
          <a:p>
            <a:pPr marL="0" indent="0">
              <a:buNone/>
            </a:pPr>
            <a:r>
              <a:rPr lang="en-US" sz="1800" dirty="0"/>
              <a:t>Training a Model: Use the labeled dataset to train a forgery detection model. Depending on the approach, you can employ traditional machine learning algorithms or deep learning architectures like convolutional neural networks (CNNs). Train the model using the labeled images and the extracted features discussed earlier.</a:t>
            </a:r>
          </a:p>
          <a:p>
            <a:pPr marL="0" indent="0">
              <a:buNone/>
            </a:pPr>
            <a:r>
              <a:rPr lang="en-US" sz="1800" dirty="0"/>
              <a:t>Validation and Evaluation: Split your dataset into training and validation sets. Use the training set to train the model and the validation set to evaluate its performance. Apply appropriate evaluation metrics such as accuracy, precision, recall, or F1 score to assess the effectiveness of the model.</a:t>
            </a:r>
          </a:p>
        </p:txBody>
      </p:sp>
      <p:pic>
        <p:nvPicPr>
          <p:cNvPr id="17410" name="Picture 2" descr="Parul University (@ParulUniversity) / Twitter">
            <a:extLst>
              <a:ext uri="{FF2B5EF4-FFF2-40B4-BE49-F238E27FC236}">
                <a16:creationId xmlns:a16="http://schemas.microsoft.com/office/drawing/2014/main" id="{A1DCAE75-FF72-8FC8-A3B6-4B6491422E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3891" y="139099"/>
            <a:ext cx="1592826" cy="1592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601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7F15-D1F3-78CE-79DC-EEA04491523E}"/>
              </a:ext>
            </a:extLst>
          </p:cNvPr>
          <p:cNvSpPr>
            <a:spLocks noGrp="1"/>
          </p:cNvSpPr>
          <p:nvPr>
            <p:ph type="title"/>
          </p:nvPr>
        </p:nvSpPr>
        <p:spPr>
          <a:xfrm>
            <a:off x="1500996" y="1233577"/>
            <a:ext cx="11490234" cy="996696"/>
          </a:xfrm>
        </p:spPr>
        <p:txBody>
          <a:bodyPr/>
          <a:lstStyle/>
          <a:p>
            <a:r>
              <a:rPr lang="en-US" dirty="0"/>
              <a:t>C</a:t>
            </a:r>
            <a:r>
              <a:rPr lang="en-IN" dirty="0" err="1"/>
              <a:t>onclusion</a:t>
            </a:r>
            <a:r>
              <a:rPr lang="en-IN" dirty="0"/>
              <a:t>:</a:t>
            </a:r>
          </a:p>
        </p:txBody>
      </p:sp>
      <p:sp>
        <p:nvSpPr>
          <p:cNvPr id="3" name="Content Placeholder 2">
            <a:extLst>
              <a:ext uri="{FF2B5EF4-FFF2-40B4-BE49-F238E27FC236}">
                <a16:creationId xmlns:a16="http://schemas.microsoft.com/office/drawing/2014/main" id="{F6F296BD-AD3E-0FFE-D6E7-74E924183854}"/>
              </a:ext>
            </a:extLst>
          </p:cNvPr>
          <p:cNvSpPr>
            <a:spLocks noGrp="1"/>
          </p:cNvSpPr>
          <p:nvPr>
            <p:ph idx="1"/>
          </p:nvPr>
        </p:nvSpPr>
        <p:spPr>
          <a:xfrm>
            <a:off x="1207698" y="1984075"/>
            <a:ext cx="9847157" cy="2846718"/>
          </a:xfrm>
        </p:spPr>
        <p:txBody>
          <a:bodyPr>
            <a:noAutofit/>
          </a:bodyPr>
          <a:lstStyle/>
          <a:p>
            <a:pPr marL="0" indent="0">
              <a:buNone/>
            </a:pPr>
            <a:r>
              <a:rPr lang="en-US" sz="1800" dirty="0"/>
              <a:t>Image forgery detection systems are designed to identify manipulations or alterations made to digital images with the intention to deceive viewers. However, it seems you have a confusion regarding this topic. Could you please provide more specific information or clarify your question? That way, I can provide you with a more accurate response.</a:t>
            </a:r>
          </a:p>
        </p:txBody>
      </p:sp>
      <p:pic>
        <p:nvPicPr>
          <p:cNvPr id="18434" name="Picture 2" descr="Parul University (@ParulUniversity) / Twitter">
            <a:extLst>
              <a:ext uri="{FF2B5EF4-FFF2-40B4-BE49-F238E27FC236}">
                <a16:creationId xmlns:a16="http://schemas.microsoft.com/office/drawing/2014/main" id="{F84B02AB-E195-880C-FDE4-7FCF77201E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35844" y="96034"/>
            <a:ext cx="1580535" cy="1580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275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7F15-D1F3-78CE-79DC-EEA04491523E}"/>
              </a:ext>
            </a:extLst>
          </p:cNvPr>
          <p:cNvSpPr>
            <a:spLocks noGrp="1"/>
          </p:cNvSpPr>
          <p:nvPr>
            <p:ph type="title"/>
          </p:nvPr>
        </p:nvSpPr>
        <p:spPr>
          <a:xfrm>
            <a:off x="1500996" y="1233577"/>
            <a:ext cx="11490234" cy="996696"/>
          </a:xfrm>
        </p:spPr>
        <p:txBody>
          <a:bodyPr/>
          <a:lstStyle/>
          <a:p>
            <a:endParaRPr lang="en-IN" dirty="0"/>
          </a:p>
        </p:txBody>
      </p:sp>
      <p:sp>
        <p:nvSpPr>
          <p:cNvPr id="3" name="Content Placeholder 2">
            <a:extLst>
              <a:ext uri="{FF2B5EF4-FFF2-40B4-BE49-F238E27FC236}">
                <a16:creationId xmlns:a16="http://schemas.microsoft.com/office/drawing/2014/main" id="{F6F296BD-AD3E-0FFE-D6E7-74E924183854}"/>
              </a:ext>
            </a:extLst>
          </p:cNvPr>
          <p:cNvSpPr>
            <a:spLocks noGrp="1"/>
          </p:cNvSpPr>
          <p:nvPr>
            <p:ph idx="1"/>
          </p:nvPr>
        </p:nvSpPr>
        <p:spPr>
          <a:xfrm>
            <a:off x="1207698" y="1984075"/>
            <a:ext cx="9847157" cy="2846718"/>
          </a:xfrm>
        </p:spPr>
        <p:txBody>
          <a:bodyPr>
            <a:noAutofit/>
          </a:bodyPr>
          <a:lstStyle/>
          <a:p>
            <a:pPr marL="0" indent="0">
              <a:buNone/>
            </a:pPr>
            <a:r>
              <a:rPr lang="en-US" sz="5400" dirty="0"/>
              <a:t>               </a:t>
            </a:r>
          </a:p>
          <a:p>
            <a:pPr marL="0" indent="0">
              <a:buNone/>
            </a:pPr>
            <a:r>
              <a:rPr lang="en-US" sz="5400" dirty="0"/>
              <a:t>                THANK YOU</a:t>
            </a:r>
          </a:p>
        </p:txBody>
      </p:sp>
      <p:pic>
        <p:nvPicPr>
          <p:cNvPr id="18434" name="Picture 2" descr="Parul University (@ParulUniversity) / Twitter">
            <a:extLst>
              <a:ext uri="{FF2B5EF4-FFF2-40B4-BE49-F238E27FC236}">
                <a16:creationId xmlns:a16="http://schemas.microsoft.com/office/drawing/2014/main" id="{F84B02AB-E195-880C-FDE4-7FCF77201E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35844" y="96034"/>
            <a:ext cx="1580535" cy="1580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898879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413</TotalTime>
  <Words>2541</Words>
  <Application>Microsoft Office PowerPoint</Application>
  <PresentationFormat>Widescreen</PresentationFormat>
  <Paragraphs>93</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Gill Sans MT</vt:lpstr>
      <vt:lpstr>Roboto</vt:lpstr>
      <vt:lpstr>Söhne</vt:lpstr>
      <vt:lpstr>Times New Roman</vt:lpstr>
      <vt:lpstr>Gallery</vt:lpstr>
      <vt:lpstr>Team Members:</vt:lpstr>
      <vt:lpstr>             IMAGE FORGERY DETECTION</vt:lpstr>
      <vt:lpstr>introduction:</vt:lpstr>
      <vt:lpstr>Problem statement:</vt:lpstr>
      <vt:lpstr>Flow chart:</vt:lpstr>
      <vt:lpstr>ABSTRACT OF PROJECT:</vt:lpstr>
      <vt:lpstr>REQUIREMENTS:</vt:lpstr>
      <vt:lpstr>IMAGE DETECTION</vt:lpstr>
      <vt:lpstr>SURVEY OF RESEARCH PAPERS</vt:lpstr>
      <vt:lpstr>      TEcHNOlogies  and tools </vt:lpstr>
      <vt:lpstr>SURVEY OF RESEARCH PAPERS</vt:lpstr>
      <vt:lpstr>Survey of research papers</vt:lpstr>
      <vt:lpstr>SURVEY OF RESEARCH PAPERS</vt:lpstr>
      <vt:lpstr>Screen shoots of implemented work</vt:lpstr>
      <vt:lpstr>Screen shoots of implemented work</vt:lpstr>
      <vt:lpstr>Screen shoots of implemented work</vt:lpstr>
      <vt:lpstr>iMPLEMENTATION</vt:lpstr>
      <vt:lpstr>DEMONISTRATION OF PROJECT: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Members:</dc:title>
  <dc:creator>GUNNAM MANIKANTESWARA REDDY</dc:creator>
  <cp:lastModifiedBy>tamrapathi kommuri</cp:lastModifiedBy>
  <cp:revision>6</cp:revision>
  <dcterms:created xsi:type="dcterms:W3CDTF">2023-01-28T03:46:27Z</dcterms:created>
  <dcterms:modified xsi:type="dcterms:W3CDTF">2025-08-20T10:20:21Z</dcterms:modified>
</cp:coreProperties>
</file>